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handoutMasterIdLst>
    <p:handoutMasterId r:id="rId7"/>
  </p:handoutMasterIdLst>
  <p:sldIdLst>
    <p:sldId id="410" r:id="rId2"/>
    <p:sldId id="508" r:id="rId3"/>
    <p:sldId id="509" r:id="rId4"/>
    <p:sldId id="409" r:id="rId5"/>
  </p:sldIdLst>
  <p:sldSz cx="1218882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pos="167" userDrawn="1">
          <p15:clr>
            <a:srgbClr val="A4A3A4"/>
          </p15:clr>
        </p15:guide>
        <p15:guide id="4" pos="74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C797DF"/>
    <a:srgbClr val="E3CBEF"/>
    <a:srgbClr val="AB63CF"/>
    <a:srgbClr val="321441"/>
    <a:srgbClr val="169F95"/>
    <a:srgbClr val="FFFFFF"/>
    <a:srgbClr val="E75420"/>
    <a:srgbClr val="C49500"/>
    <a:srgbClr val="89A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33" autoAdjust="0"/>
  </p:normalViewPr>
  <p:slideViewPr>
    <p:cSldViewPr snapToGrid="0">
      <p:cViewPr varScale="1">
        <p:scale>
          <a:sx n="78" d="100"/>
          <a:sy n="78" d="100"/>
        </p:scale>
        <p:origin x="420" y="96"/>
      </p:cViewPr>
      <p:guideLst>
        <p:guide orient="horz" pos="720"/>
        <p:guide orient="horz" pos="4056"/>
        <p:guide pos="167"/>
        <p:guide pos="74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7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E54D0-C845-4F07-B48A-EE70AE648F0F}" type="datetimeFigureOut">
              <a:rPr lang="en-US" smtClean="0"/>
              <a:t>5/9/2019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613E3-2069-4161-89EE-9C797D2741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54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B8F8FF-98EF-4AB4-9019-1077724CDD04}" type="datetimeFigureOut">
              <a:rPr lang="en-US" smtClean="0"/>
              <a:pPr/>
              <a:t>5/9/2019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4C09707-4C2A-43E7-A569-73EA1376F37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33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/>
          <a:lstStyle/>
          <a:p>
            <a:fld id="{C4C09707-4C2A-43E7-A569-73EA1376F372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020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09707-4C2A-43E7-A569-73EA1376F372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9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itcinfotech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s://www.facebook.com/itcinfotech/" TargetMode="External"/><Relationship Id="rId12" Type="http://schemas.openxmlformats.org/officeDocument/2006/relationships/hyperlink" Target="http://www.itcinfotech.com/digitaligence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hyperlink" Target="https://www.youtube.com/user/ITCInfotech1" TargetMode="External"/><Relationship Id="rId5" Type="http://schemas.openxmlformats.org/officeDocument/2006/relationships/hyperlink" Target="http://www.itcinfotech.com/" TargetMode="External"/><Relationship Id="rId10" Type="http://schemas.openxmlformats.org/officeDocument/2006/relationships/hyperlink" Target="https://plus.google.com/+itcinfotech" TargetMode="External"/><Relationship Id="rId4" Type="http://schemas.openxmlformats.org/officeDocument/2006/relationships/hyperlink" Target="mailto:contact.us@itcinfotech.com" TargetMode="External"/><Relationship Id="rId9" Type="http://schemas.openxmlformats.org/officeDocument/2006/relationships/hyperlink" Target="https://www.linkedin.com/company/itc-infotech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88825" cy="4934856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-1" y="4861339"/>
            <a:ext cx="12188827" cy="312057"/>
            <a:chOff x="-1" y="4610742"/>
            <a:chExt cx="12188827" cy="570858"/>
          </a:xfrm>
        </p:grpSpPr>
        <p:sp>
          <p:nvSpPr>
            <p:cNvPr id="30" name="Rectangle 29"/>
            <p:cNvSpPr/>
            <p:nvPr userDrawn="1"/>
          </p:nvSpPr>
          <p:spPr>
            <a:xfrm>
              <a:off x="6081714" y="4610742"/>
              <a:ext cx="6107112" cy="570858"/>
            </a:xfrm>
            <a:prstGeom prst="rect">
              <a:avLst/>
            </a:prstGeom>
            <a:solidFill>
              <a:srgbClr val="642882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-1" y="4610742"/>
              <a:ext cx="6091279" cy="570858"/>
            </a:xfrm>
            <a:prstGeom prst="rect">
              <a:avLst/>
            </a:prstGeom>
            <a:solidFill>
              <a:srgbClr val="C8DC28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itle 5"/>
          <p:cNvSpPr txBox="1">
            <a:spLocks/>
          </p:cNvSpPr>
          <p:nvPr/>
        </p:nvSpPr>
        <p:spPr bwMode="gray">
          <a:xfrm>
            <a:off x="10044255" y="4849109"/>
            <a:ext cx="2026067" cy="3077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effectLst/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j-ea"/>
              </a:rPr>
              <a:t>Digitaligence@work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j-ea"/>
            </a:endParaRPr>
          </a:p>
        </p:txBody>
      </p:sp>
      <p:pic>
        <p:nvPicPr>
          <p:cNvPr id="32" name="Picture 6" descr="ITC Infotech_logo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597047" y="5267270"/>
            <a:ext cx="2455863" cy="132164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/>
          <p:cNvSpPr/>
          <p:nvPr userDrawn="1"/>
        </p:nvSpPr>
        <p:spPr>
          <a:xfrm>
            <a:off x="0" y="3670852"/>
            <a:ext cx="12188825" cy="1192695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 bwMode="gray">
          <a:xfrm>
            <a:off x="304719" y="4003266"/>
            <a:ext cx="11438790" cy="553998"/>
          </a:xfrm>
        </p:spPr>
        <p:txBody>
          <a:bodyPr wrap="square" lIns="0" tIns="0" rIns="0" bIns="0" anchor="ctr">
            <a:spAutoFit/>
          </a:bodyPr>
          <a:lstStyle>
            <a:lvl1pPr algn="ctr">
              <a:defRPr sz="3600" b="1">
                <a:solidFill>
                  <a:schemeClr val="bg1"/>
                </a:solidFill>
                <a:effectLst/>
                <a:latin typeface="+mj-lt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 userDrawn="1">
            <p:ph type="ftr" sz="quarter" idx="11"/>
          </p:nvPr>
        </p:nvSpPr>
        <p:spPr bwMode="gray">
          <a:xfrm>
            <a:off x="304720" y="6648466"/>
            <a:ext cx="2101537" cy="153888"/>
          </a:xfrm>
        </p:spPr>
        <p:txBody>
          <a:bodyPr wrap="none" lIns="0" tIns="0" rIns="0" bIns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 userDrawn="1">
            <p:ph type="sldNum" sz="quarter" idx="12"/>
          </p:nvPr>
        </p:nvSpPr>
        <p:spPr bwMode="gray">
          <a:xfrm>
            <a:off x="11699565" y="6648466"/>
            <a:ext cx="150682" cy="153888"/>
          </a:xfrm>
        </p:spPr>
        <p:txBody>
          <a:bodyPr wrap="none" lIns="0" tIns="0" rIns="0" bIns="0" anchor="b">
            <a:spAutoFit/>
          </a:bodyPr>
          <a:lstStyle>
            <a:lvl1pPr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37" name="Rectangle 36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955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 rot="16200000" flipH="1">
            <a:off x="4861893" y="1730929"/>
            <a:ext cx="265176" cy="9988964"/>
          </a:xfrm>
          <a:prstGeom prst="rect">
            <a:avLst/>
          </a:prstGeom>
          <a:solidFill>
            <a:srgbClr val="C8DC28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 rot="16200000" flipH="1">
            <a:off x="10778991" y="5448166"/>
            <a:ext cx="265176" cy="255449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Title 5"/>
          <p:cNvSpPr txBox="1">
            <a:spLocks/>
          </p:cNvSpPr>
          <p:nvPr/>
        </p:nvSpPr>
        <p:spPr bwMode="inv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>
                <a:latin typeface="+mn-lt"/>
              </a:rPr>
              <a:t>Digitaligence@work |</a:t>
            </a:r>
            <a:endParaRPr lang="en-US" sz="1000" noProof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270862" y="232373"/>
            <a:ext cx="10427617" cy="492443"/>
          </a:xfr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270863" y="1151284"/>
            <a:ext cx="11579384" cy="153888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9" name="Rectangle 28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42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0539" y="0"/>
            <a:ext cx="58782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4720" y="2813447"/>
            <a:ext cx="5913200" cy="1231106"/>
          </a:xfrm>
        </p:spPr>
        <p:txBody>
          <a:bodyPr anchor="ctr"/>
          <a:lstStyle>
            <a:lvl1pPr algn="ctr">
              <a:defRPr sz="40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5" name="Rectangle 24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0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9" name="Title 5"/>
          <p:cNvSpPr txBox="1">
            <a:spLocks/>
          </p:cNvSpPr>
          <p:nvPr userDrawn="1"/>
        </p:nvSpPr>
        <p:spPr bwMode="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/>
              <a:t>Digitaligence@work |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4240237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61390" y="1233714"/>
            <a:ext cx="4871753" cy="437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ITC Infotech_logo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050719" y="1143000"/>
            <a:ext cx="2970945" cy="159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/>
          <p:cNvSpPr txBox="1">
            <a:spLocks/>
          </p:cNvSpPr>
          <p:nvPr/>
        </p:nvSpPr>
        <p:spPr bwMode="gray">
          <a:xfrm>
            <a:off x="7116487" y="3197087"/>
            <a:ext cx="4481227" cy="141577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400" dirty="0" smtClean="0">
                <a:solidFill>
                  <a:schemeClr val="tx1"/>
                </a:solidFill>
                <a:effectLst/>
                <a:latin typeface="+mj-lt"/>
              </a:rPr>
              <a:t>Thank you</a:t>
            </a:r>
          </a:p>
          <a:p>
            <a:pPr algn="l">
              <a:spcBef>
                <a:spcPts val="0"/>
              </a:spcBef>
            </a:pP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Connect with us to understand how </a:t>
            </a:r>
            <a:b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</a:b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ITC Infotech can help your business </a:t>
            </a:r>
            <a:endParaRPr lang="en-US" sz="3600" b="0" dirty="0">
              <a:solidFill>
                <a:schemeClr val="bg1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27" name="Text Placeholder 2"/>
          <p:cNvSpPr txBox="1">
            <a:spLocks/>
          </p:cNvSpPr>
          <p:nvPr/>
        </p:nvSpPr>
        <p:spPr bwMode="gray">
          <a:xfrm>
            <a:off x="7116487" y="4701464"/>
            <a:ext cx="3628750" cy="69249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252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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504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756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008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Email: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4"/>
              </a:rPr>
              <a:t>contact.us@itcinfotech.com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Web: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5"/>
              </a:rPr>
              <a:t>www.itcinfotech.com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390" y="5219940"/>
            <a:ext cx="3587206" cy="388885"/>
          </a:xfrm>
          <a:prstGeom prst="rect">
            <a:avLst/>
          </a:prstGeom>
        </p:spPr>
      </p:pic>
      <p:grpSp>
        <p:nvGrpSpPr>
          <p:cNvPr id="29" name="Group 28"/>
          <p:cNvGrpSpPr/>
          <p:nvPr userDrawn="1"/>
        </p:nvGrpSpPr>
        <p:grpSpPr>
          <a:xfrm flipH="1">
            <a:off x="5539950" y="5457243"/>
            <a:ext cx="595380" cy="474022"/>
            <a:chOff x="5834917" y="5619476"/>
            <a:chExt cx="595380" cy="474022"/>
          </a:xfrm>
        </p:grpSpPr>
        <p:sp>
          <p:nvSpPr>
            <p:cNvPr id="30" name="Rectangle 29"/>
            <p:cNvSpPr/>
            <p:nvPr/>
          </p:nvSpPr>
          <p:spPr>
            <a:xfrm>
              <a:off x="5834917" y="5619476"/>
              <a:ext cx="270915" cy="23804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9382" y="5855450"/>
              <a:ext cx="270915" cy="23804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32" name="Group 31"/>
          <p:cNvGrpSpPr/>
          <p:nvPr userDrawn="1"/>
        </p:nvGrpSpPr>
        <p:grpSpPr>
          <a:xfrm>
            <a:off x="265113" y="664044"/>
            <a:ext cx="979136" cy="898920"/>
            <a:chOff x="10972801" y="86711"/>
            <a:chExt cx="979136" cy="898920"/>
          </a:xfrm>
        </p:grpSpPr>
        <p:sp>
          <p:nvSpPr>
            <p:cNvPr id="33" name="Rectangle 32"/>
            <p:cNvSpPr/>
            <p:nvPr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5" name="TextBox 34"/>
          <p:cNvSpPr txBox="1"/>
          <p:nvPr userDrawn="1"/>
        </p:nvSpPr>
        <p:spPr bwMode="gray">
          <a:xfrm>
            <a:off x="861390" y="6101565"/>
            <a:ext cx="28984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>
                <a:solidFill>
                  <a:schemeClr val="accent6">
                    <a:lumMod val="10000"/>
                  </a:schemeClr>
                </a:solidFill>
                <a:latin typeface="Futura Lt BT" panose="020B0402020204020303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+mn-lt"/>
              </a:rPr>
              <a:t>©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2018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ITC Infotech. All Rights Reserved.</a:t>
            </a:r>
          </a:p>
        </p:txBody>
      </p:sp>
      <p:sp>
        <p:nvSpPr>
          <p:cNvPr id="36" name="Text Box 3"/>
          <p:cNvSpPr txBox="1">
            <a:spLocks noChangeArrowheads="1"/>
          </p:cNvSpPr>
          <p:nvPr userDrawn="1"/>
        </p:nvSpPr>
        <p:spPr bwMode="gray">
          <a:xfrm>
            <a:off x="861390" y="6328660"/>
            <a:ext cx="7053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All trademarks are the registered property of the respective companies and are acknowledged</a:t>
            </a:r>
            <a:r>
              <a:rPr lang="en-US" sz="1400" dirty="0" smtClean="0">
                <a:latin typeface="+mn-lt"/>
                <a:cs typeface="Times New Roman" panose="02020603050405020304" pitchFamily="18" charset="0"/>
              </a:rPr>
              <a:t>.</a:t>
            </a:r>
            <a:endParaRPr lang="en-GB" sz="1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hlinkClick r:id="rId7"/>
          </p:cNvPr>
          <p:cNvSpPr/>
          <p:nvPr userDrawn="1"/>
        </p:nvSpPr>
        <p:spPr>
          <a:xfrm>
            <a:off x="2650021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" name="Oval 37">
            <a:hlinkClick r:id="rId8"/>
          </p:cNvPr>
          <p:cNvSpPr/>
          <p:nvPr userDrawn="1"/>
        </p:nvSpPr>
        <p:spPr>
          <a:xfrm>
            <a:off x="3034593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9" name="Oval 38">
            <a:hlinkClick r:id="rId9"/>
          </p:cNvPr>
          <p:cNvSpPr/>
          <p:nvPr userDrawn="1"/>
        </p:nvSpPr>
        <p:spPr>
          <a:xfrm>
            <a:off x="3419165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Oval 39">
            <a:hlinkClick r:id="rId10"/>
          </p:cNvPr>
          <p:cNvSpPr/>
          <p:nvPr userDrawn="1"/>
        </p:nvSpPr>
        <p:spPr>
          <a:xfrm>
            <a:off x="3803737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1" name="Oval 40">
            <a:hlinkClick r:id="rId11"/>
          </p:cNvPr>
          <p:cNvSpPr/>
          <p:nvPr userDrawn="1"/>
        </p:nvSpPr>
        <p:spPr>
          <a:xfrm>
            <a:off x="4188309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Title 1">
            <a:hlinkClick r:id="rId12"/>
          </p:cNvPr>
          <p:cNvSpPr txBox="1">
            <a:spLocks/>
          </p:cNvSpPr>
          <p:nvPr userDrawn="1"/>
        </p:nvSpPr>
        <p:spPr bwMode="gray">
          <a:xfrm>
            <a:off x="1797207" y="3608094"/>
            <a:ext cx="300011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dirty="0" smtClean="0">
                <a:solidFill>
                  <a:schemeClr val="bg1"/>
                </a:solidFill>
                <a:effectLst/>
                <a:latin typeface="+mj-lt"/>
              </a:rPr>
              <a:t>Digitaligence@work</a:t>
            </a:r>
            <a:endParaRPr lang="en-US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103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E7EB4-4CDF-47BB-AF16-07782904B86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23726" y="1412775"/>
            <a:ext cx="10941377" cy="4680049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726" y="406224"/>
            <a:ext cx="10941375" cy="316800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3726" y="730800"/>
            <a:ext cx="1094137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037548" y="6477000"/>
            <a:ext cx="914162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74242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863" y="295117"/>
            <a:ext cx="11576580" cy="43088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63" y="952501"/>
            <a:ext cx="11579384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720" y="6627068"/>
            <a:ext cx="2192908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19640" y="6627068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41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effectLst/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252000" indent="-252000" algn="l" defTabSz="914400" rtl="0" eaLnBrk="1" latinLnBrk="0" hangingPunct="1">
        <a:spcBef>
          <a:spcPts val="600"/>
        </a:spcBef>
        <a:buFont typeface="Wingdings 2" pitchFamily="18" charset="2"/>
        <a:buChar char="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504000" indent="-252000" algn="l" defTabSz="914400" rtl="0" eaLnBrk="1" latinLnBrk="0" hangingPunct="1"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756000" indent="-252000" algn="l" defTabSz="914400" rtl="0" eaLnBrk="1" latinLnBrk="0" hangingPunct="1">
        <a:spcBef>
          <a:spcPts val="600"/>
        </a:spcBef>
        <a:buFont typeface="Wingdings 2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008000" indent="-252000" algn="l" defTabSz="914400" rtl="0" eaLnBrk="1" latinLnBrk="0" hangingPunct="1">
        <a:spcBef>
          <a:spcPts val="600"/>
        </a:spcBef>
        <a:buFont typeface="Arial" pitchFamily="34" charset="0"/>
        <a:buChar char="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4719" y="3726267"/>
            <a:ext cx="11438790" cy="1107996"/>
          </a:xfrm>
        </p:spPr>
        <p:txBody>
          <a:bodyPr/>
          <a:lstStyle/>
          <a:p>
            <a:r>
              <a:rPr lang="en-US" dirty="0" smtClean="0"/>
              <a:t>Precursory Files Check Automation Process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29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Precursory File checker – Salient Features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06400" y="1384300"/>
            <a:ext cx="10160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Key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Erroneous records in the input files are not unearthed until they are processed by the ETL jobs.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Time taken to update the input files to proceed with testing is time 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Getting a first hand feel on the quality of input files is key to expedite end to end testing effort</a:t>
            </a:r>
          </a:p>
          <a:p>
            <a:endParaRPr lang="en-US" sz="1600" dirty="0" smtClean="0"/>
          </a:p>
          <a:p>
            <a:r>
              <a:rPr lang="en-US" sz="1600" b="1" dirty="0"/>
              <a:t>Key </a:t>
            </a:r>
            <a:r>
              <a:rPr lang="en-US" sz="1600" b="1" dirty="0" smtClean="0"/>
              <a:t>Features </a:t>
            </a:r>
            <a:r>
              <a:rPr lang="en-US" sz="1600" b="1" dirty="0"/>
              <a:t>of </a:t>
            </a:r>
            <a:r>
              <a:rPr lang="en-US" sz="1600" b="1" dirty="0" smtClean="0"/>
              <a:t>Precursory File </a:t>
            </a:r>
            <a:r>
              <a:rPr lang="en-US" sz="1600" b="1" dirty="0"/>
              <a:t>Checker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Enables input files to be validated against the </a:t>
            </a:r>
            <a:r>
              <a:rPr lang="en-US" sz="1600" dirty="0" err="1" smtClean="0"/>
              <a:t>config</a:t>
            </a:r>
            <a:r>
              <a:rPr lang="en-US" sz="1600" dirty="0" smtClean="0"/>
              <a:t> file / mapping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Every column and records are verified for compliance against  mapping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Following deviations are highlighted in the report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/>
              <a:t>Primary key having </a:t>
            </a:r>
            <a:r>
              <a:rPr lang="en-US" sz="1600" dirty="0" smtClean="0"/>
              <a:t>duplicates</a:t>
            </a:r>
            <a:endParaRPr lang="en-US" sz="1600" dirty="0" smtClean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/>
              <a:t>Not </a:t>
            </a:r>
            <a:r>
              <a:rPr lang="en-US" sz="1600" dirty="0" err="1" smtClean="0"/>
              <a:t>nullable</a:t>
            </a:r>
            <a:r>
              <a:rPr lang="en-US" sz="1600" dirty="0" smtClean="0"/>
              <a:t> fields having null values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/>
              <a:t>Columns present in </a:t>
            </a:r>
            <a:r>
              <a:rPr lang="en-US" sz="1600" dirty="0" err="1" smtClean="0"/>
              <a:t>config</a:t>
            </a:r>
            <a:r>
              <a:rPr lang="en-US" sz="1600" dirty="0" smtClean="0"/>
              <a:t> file / mapping document and missing in input 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Detailed Reports provided in less than 5 minutes for 30K +  records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022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6105305" y="3363980"/>
            <a:ext cx="2004426" cy="100227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55488" y="1968500"/>
            <a:ext cx="3537185" cy="185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 Cursory File Checker – How does it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492443"/>
          </a:xfrm>
        </p:spPr>
        <p:txBody>
          <a:bodyPr/>
          <a:lstStyle/>
          <a:p>
            <a:r>
              <a:rPr lang="en-US" dirty="0" smtClean="0"/>
              <a:t>Pre Cursory File checker is a Data Testing utility built on Python leveraging </a:t>
            </a:r>
            <a:r>
              <a:rPr lang="en-US" dirty="0" err="1" smtClean="0"/>
              <a:t>Tkinter</a:t>
            </a:r>
            <a:r>
              <a:rPr lang="en-US" dirty="0" smtClean="0"/>
              <a:t> framework. It enables developers/ testers to evaluate the Sanity of the input files before being processed by ETL job / Big Data jobs.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769" y="2373329"/>
            <a:ext cx="761763" cy="757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5488" y="3175000"/>
            <a:ext cx="17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Input files – </a:t>
            </a:r>
            <a:r>
              <a:rPr lang="en-US" sz="1400" dirty="0" err="1" smtClean="0"/>
              <a:t>csv</a:t>
            </a:r>
            <a:r>
              <a:rPr lang="en-US" sz="1400" dirty="0" smtClean="0"/>
              <a:t> / </a:t>
            </a:r>
            <a:r>
              <a:rPr lang="en-US" sz="1400" dirty="0" err="1" smtClean="0"/>
              <a:t>xlsx</a:t>
            </a:r>
            <a:r>
              <a:rPr lang="en-US" sz="1400" dirty="0" smtClean="0"/>
              <a:t> format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576" y="2565340"/>
            <a:ext cx="472554" cy="57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7461" y="3102370"/>
            <a:ext cx="17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Mapping Document /</a:t>
            </a:r>
            <a:r>
              <a:rPr lang="en-US" sz="1400" dirty="0" err="1" smtClean="0"/>
              <a:t>Config</a:t>
            </a:r>
            <a:r>
              <a:rPr lang="en-US" sz="1400" dirty="0" smtClean="0"/>
              <a:t> File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1355488" y="4055443"/>
            <a:ext cx="3537185" cy="185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99" y="4358226"/>
            <a:ext cx="761763" cy="7578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5488" y="5261943"/>
            <a:ext cx="17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Input files – </a:t>
            </a:r>
            <a:r>
              <a:rPr lang="en-US" sz="1400" dirty="0" err="1" smtClean="0"/>
              <a:t>csv</a:t>
            </a:r>
            <a:r>
              <a:rPr lang="en-US" sz="1400" dirty="0" smtClean="0"/>
              <a:t> / </a:t>
            </a:r>
            <a:r>
              <a:rPr lang="en-US" sz="1400" dirty="0" err="1" smtClean="0"/>
              <a:t>xlsx</a:t>
            </a:r>
            <a:r>
              <a:rPr lang="en-US" sz="1400" dirty="0" smtClean="0"/>
              <a:t> format</a:t>
            </a:r>
            <a:endParaRPr lang="en-US" sz="1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576" y="4460272"/>
            <a:ext cx="472554" cy="574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87461" y="5189313"/>
            <a:ext cx="17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Mapping Document /</a:t>
            </a:r>
            <a:r>
              <a:rPr lang="en-US" sz="1400" dirty="0" err="1" smtClean="0"/>
              <a:t>Config</a:t>
            </a:r>
            <a:r>
              <a:rPr lang="en-US" sz="1400" dirty="0" smtClean="0"/>
              <a:t> File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232" y="1686053"/>
            <a:ext cx="544512" cy="6541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08094" y="2013138"/>
            <a:ext cx="153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Customer Entity</a:t>
            </a:r>
            <a:endParaRPr lang="en-US" sz="14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30" y="3945797"/>
            <a:ext cx="593724" cy="5773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10482" y="4058477"/>
            <a:ext cx="153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Revenue Entity</a:t>
            </a:r>
            <a:endParaRPr lang="en-US" sz="14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674" y="3374641"/>
            <a:ext cx="726708" cy="909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13246" y="2840760"/>
            <a:ext cx="1535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Pre cursory file</a:t>
            </a:r>
            <a:endParaRPr lang="en-US" sz="1400" b="1" dirty="0"/>
          </a:p>
          <a:p>
            <a:pPr algn="ctr"/>
            <a:r>
              <a:rPr lang="en-US" sz="1400" b="1" dirty="0" smtClean="0"/>
              <a:t>Engine</a:t>
            </a:r>
            <a:endParaRPr lang="en-US" sz="1400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7522" y="3625590"/>
            <a:ext cx="774671" cy="5838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554" y="4418824"/>
            <a:ext cx="15260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Validates for each entity mapping document against input files (record by record)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7887" y="2947488"/>
            <a:ext cx="1466850" cy="1724025"/>
          </a:xfrm>
          <a:prstGeom prst="rect">
            <a:avLst/>
          </a:prstGeom>
        </p:spPr>
      </p:pic>
      <p:sp>
        <p:nvSpPr>
          <p:cNvPr id="25" name="Isosceles Triangle 24"/>
          <p:cNvSpPr/>
          <p:nvPr/>
        </p:nvSpPr>
        <p:spPr>
          <a:xfrm rot="5400000">
            <a:off x="8721263" y="3751545"/>
            <a:ext cx="616058" cy="227145"/>
          </a:xfrm>
          <a:prstGeom prst="triangl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 rot="5400000">
            <a:off x="5073170" y="3751545"/>
            <a:ext cx="616058" cy="227145"/>
          </a:xfrm>
          <a:prstGeom prst="triangl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09255" y="2424268"/>
            <a:ext cx="153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Reports</a:t>
            </a:r>
            <a:endParaRPr lang="en-US" sz="1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9420712" y="4720110"/>
            <a:ext cx="27681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Primary key having documents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Not </a:t>
            </a:r>
            <a:r>
              <a:rPr lang="en-US" sz="1400" dirty="0" err="1"/>
              <a:t>nullable</a:t>
            </a:r>
            <a:r>
              <a:rPr lang="en-US" sz="1400" dirty="0"/>
              <a:t> fields having null </a:t>
            </a:r>
            <a:r>
              <a:rPr lang="en-US" sz="1400" dirty="0" smtClean="0"/>
              <a:t>values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Missing Columns in input files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292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3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5 ITC Infotech Template">
  <a:themeElements>
    <a:clrScheme name="ITC Infotech 2015">
      <a:dk1>
        <a:srgbClr val="000000"/>
      </a:dk1>
      <a:lt1>
        <a:srgbClr val="FFFFFF"/>
      </a:lt1>
      <a:dk2>
        <a:srgbClr val="7F7F7F"/>
      </a:dk2>
      <a:lt2>
        <a:srgbClr val="7F7F7F"/>
      </a:lt2>
      <a:accent1>
        <a:srgbClr val="C8DC28"/>
      </a:accent1>
      <a:accent2>
        <a:srgbClr val="642882"/>
      </a:accent2>
      <a:accent3>
        <a:srgbClr val="7F7F7F"/>
      </a:accent3>
      <a:accent4>
        <a:srgbClr val="E5E5E5"/>
      </a:accent4>
      <a:accent5>
        <a:srgbClr val="F2F2F2"/>
      </a:accent5>
      <a:accent6>
        <a:srgbClr val="7F7F7F"/>
      </a:accent6>
      <a:hlink>
        <a:srgbClr val="002060"/>
      </a:hlink>
      <a:folHlink>
        <a:srgbClr val="002060"/>
      </a:folHlink>
    </a:clrScheme>
    <a:fontScheme name="ITC Infotitan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15 ITC Infotech Template" id="{0F0EA5AB-7595-4F8E-904A-6F674BAA2F94}" vid="{3D20AD07-A66A-4E9A-B2D7-C7CAC47E71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2015 ITC Infotech Template</Template>
  <TotalTime>29984</TotalTime>
  <Words>281</Words>
  <Application>Microsoft Office PowerPoint</Application>
  <PresentationFormat>Custom</PresentationFormat>
  <Paragraphs>38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Times New Roman</vt:lpstr>
      <vt:lpstr>Wingdings 2</vt:lpstr>
      <vt:lpstr>2015 ITC Infotech Template</vt:lpstr>
      <vt:lpstr>Precursory Files Check Automation Process </vt:lpstr>
      <vt:lpstr>Precursory File checker – Salient Features</vt:lpstr>
      <vt:lpstr>Pre- Cursory File Checker – How does it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Finnair</dc:title>
  <dc:creator>Faizan.Khan@itcinfotech.com</dc:creator>
  <cp:lastModifiedBy>Kumar Vikash</cp:lastModifiedBy>
  <cp:revision>1142</cp:revision>
  <cp:lastPrinted>2017-08-11T08:50:46Z</cp:lastPrinted>
  <dcterms:created xsi:type="dcterms:W3CDTF">2012-03-05T08:30:28Z</dcterms:created>
  <dcterms:modified xsi:type="dcterms:W3CDTF">2019-05-10T10:13:19Z</dcterms:modified>
</cp:coreProperties>
</file>