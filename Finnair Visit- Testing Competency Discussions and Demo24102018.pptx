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handoutMasterIdLst>
    <p:handoutMasterId r:id="rId11"/>
  </p:handoutMasterIdLst>
  <p:sldIdLst>
    <p:sldId id="410" r:id="rId2"/>
    <p:sldId id="411" r:id="rId3"/>
    <p:sldId id="413" r:id="rId4"/>
    <p:sldId id="427" r:id="rId5"/>
    <p:sldId id="415" r:id="rId6"/>
    <p:sldId id="428" r:id="rId7"/>
    <p:sldId id="430" r:id="rId8"/>
    <p:sldId id="409" r:id="rId9"/>
  </p:sldIdLst>
  <p:sldSz cx="1218882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pos="167" userDrawn="1">
          <p15:clr>
            <a:srgbClr val="A4A3A4"/>
          </p15:clr>
        </p15:guide>
        <p15:guide id="4" pos="74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97DF"/>
    <a:srgbClr val="E3CBEF"/>
    <a:srgbClr val="AB63CF"/>
    <a:srgbClr val="321441"/>
    <a:srgbClr val="169F95"/>
    <a:srgbClr val="FFFFFF"/>
    <a:srgbClr val="E75420"/>
    <a:srgbClr val="C49500"/>
    <a:srgbClr val="89A72A"/>
    <a:srgbClr val="3CA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66"/>
      </p:cViewPr>
      <p:guideLst>
        <p:guide orient="horz" pos="720"/>
        <p:guide orient="horz" pos="4056"/>
        <p:guide pos="167"/>
        <p:guide pos="74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7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E54D0-C845-4F07-B48A-EE70AE648F0F}" type="datetimeFigureOut">
              <a:rPr lang="en-US" smtClean="0"/>
              <a:t>6/19/2019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613E3-2069-4161-89EE-9C797D2741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54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B8F8FF-98EF-4AB4-9019-1077724CDD04}" type="datetimeFigureOut">
              <a:rPr lang="en-US" smtClean="0"/>
              <a:pPr/>
              <a:t>6/19/2019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4C09707-4C2A-43E7-A569-73EA1376F37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33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/>
          <a:lstStyle/>
          <a:p>
            <a:fld id="{C4C09707-4C2A-43E7-A569-73EA1376F372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02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itcinfotech" TargetMode="External"/><Relationship Id="rId3" Type="http://schemas.openxmlformats.org/officeDocument/2006/relationships/image" Target="../media/image6.jpeg"/><Relationship Id="rId7" Type="http://schemas.openxmlformats.org/officeDocument/2006/relationships/hyperlink" Target="https://www.facebook.com/itcinfotech/" TargetMode="External"/><Relationship Id="rId12" Type="http://schemas.openxmlformats.org/officeDocument/2006/relationships/hyperlink" Target="http://www.itcinfotech.com/digitaligence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hyperlink" Target="https://www.youtube.com/user/ITCInfotech1" TargetMode="External"/><Relationship Id="rId5" Type="http://schemas.openxmlformats.org/officeDocument/2006/relationships/hyperlink" Target="http://www.itcinfotech.com/" TargetMode="External"/><Relationship Id="rId10" Type="http://schemas.openxmlformats.org/officeDocument/2006/relationships/hyperlink" Target="https://plus.google.com/+itcinfotech" TargetMode="External"/><Relationship Id="rId4" Type="http://schemas.openxmlformats.org/officeDocument/2006/relationships/hyperlink" Target="mailto:contact.us@itcinfotech.com" TargetMode="External"/><Relationship Id="rId9" Type="http://schemas.openxmlformats.org/officeDocument/2006/relationships/hyperlink" Target="https://www.linkedin.com/company/itc-infotech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88825" cy="4934856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-1" y="4861339"/>
            <a:ext cx="12188827" cy="312057"/>
            <a:chOff x="-1" y="4610742"/>
            <a:chExt cx="12188827" cy="570858"/>
          </a:xfrm>
        </p:grpSpPr>
        <p:sp>
          <p:nvSpPr>
            <p:cNvPr id="30" name="Rectangle 29"/>
            <p:cNvSpPr/>
            <p:nvPr userDrawn="1"/>
          </p:nvSpPr>
          <p:spPr>
            <a:xfrm>
              <a:off x="6081714" y="4610742"/>
              <a:ext cx="6107112" cy="570858"/>
            </a:xfrm>
            <a:prstGeom prst="rect">
              <a:avLst/>
            </a:prstGeom>
            <a:solidFill>
              <a:srgbClr val="642882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-1" y="4610742"/>
              <a:ext cx="6091279" cy="570858"/>
            </a:xfrm>
            <a:prstGeom prst="rect">
              <a:avLst/>
            </a:prstGeom>
            <a:solidFill>
              <a:srgbClr val="C8DC28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itle 5"/>
          <p:cNvSpPr txBox="1">
            <a:spLocks/>
          </p:cNvSpPr>
          <p:nvPr/>
        </p:nvSpPr>
        <p:spPr bwMode="gray">
          <a:xfrm>
            <a:off x="10044255" y="4849109"/>
            <a:ext cx="2026067" cy="3077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effectLst/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j-ea"/>
              </a:rPr>
              <a:t>Digitaligence@work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j-ea"/>
            </a:endParaRPr>
          </a:p>
        </p:txBody>
      </p:sp>
      <p:pic>
        <p:nvPicPr>
          <p:cNvPr id="32" name="Picture 6" descr="ITC Infotech_logo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895326" y="5326817"/>
            <a:ext cx="2455863" cy="132164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/>
          <p:cNvSpPr/>
          <p:nvPr userDrawn="1"/>
        </p:nvSpPr>
        <p:spPr>
          <a:xfrm>
            <a:off x="0" y="3670852"/>
            <a:ext cx="12188825" cy="1192695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 bwMode="gray">
          <a:xfrm>
            <a:off x="304719" y="4003266"/>
            <a:ext cx="11438790" cy="553998"/>
          </a:xfrm>
        </p:spPr>
        <p:txBody>
          <a:bodyPr wrap="square" lIns="0" tIns="0" rIns="0" bIns="0" anchor="ctr">
            <a:spAutoFit/>
          </a:bodyPr>
          <a:lstStyle>
            <a:lvl1pPr algn="ctr">
              <a:defRPr sz="3600" b="1">
                <a:solidFill>
                  <a:schemeClr val="bg1"/>
                </a:solidFill>
                <a:effectLst/>
                <a:latin typeface="+mj-lt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 userDrawn="1">
            <p:ph type="ftr" sz="quarter" idx="11"/>
          </p:nvPr>
        </p:nvSpPr>
        <p:spPr bwMode="gray">
          <a:xfrm>
            <a:off x="304720" y="6648466"/>
            <a:ext cx="2101537" cy="153888"/>
          </a:xfrm>
        </p:spPr>
        <p:txBody>
          <a:bodyPr wrap="none" lIns="0" tIns="0" rIns="0" bIns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 userDrawn="1">
            <p:ph type="sldNum" sz="quarter" idx="12"/>
          </p:nvPr>
        </p:nvSpPr>
        <p:spPr bwMode="gray">
          <a:xfrm>
            <a:off x="11699565" y="6648466"/>
            <a:ext cx="150682" cy="153888"/>
          </a:xfrm>
        </p:spPr>
        <p:txBody>
          <a:bodyPr wrap="none" lIns="0" tIns="0" rIns="0" bIns="0" anchor="b">
            <a:spAutoFit/>
          </a:bodyPr>
          <a:lstStyle>
            <a:lvl1pPr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37" name="Rectangle 36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1028" name="Picture 4" descr="Finnair Logo.sv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792" y="5689804"/>
            <a:ext cx="2857500" cy="31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955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 rot="16200000" flipH="1">
            <a:off x="4861893" y="1730929"/>
            <a:ext cx="265176" cy="9988964"/>
          </a:xfrm>
          <a:prstGeom prst="rect">
            <a:avLst/>
          </a:prstGeom>
          <a:solidFill>
            <a:srgbClr val="C8DC28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 rot="16200000" flipH="1">
            <a:off x="10778991" y="5448166"/>
            <a:ext cx="265176" cy="255449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Title 5"/>
          <p:cNvSpPr txBox="1">
            <a:spLocks/>
          </p:cNvSpPr>
          <p:nvPr/>
        </p:nvSpPr>
        <p:spPr bwMode="inv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>
                <a:latin typeface="+mn-lt"/>
              </a:rPr>
              <a:t>Digitaligence@work |</a:t>
            </a:r>
            <a:endParaRPr lang="en-US" sz="1000" noProof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270862" y="232373"/>
            <a:ext cx="10427617" cy="492443"/>
          </a:xfr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270863" y="1151284"/>
            <a:ext cx="11579384" cy="153888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9" name="Rectangle 28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42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0539" y="0"/>
            <a:ext cx="58782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4720" y="2813447"/>
            <a:ext cx="5913200" cy="1231106"/>
          </a:xfrm>
        </p:spPr>
        <p:txBody>
          <a:bodyPr anchor="ctr"/>
          <a:lstStyle>
            <a:lvl1pPr algn="ctr">
              <a:defRPr sz="40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5" name="Rectangle 24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0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9" name="Title 5"/>
          <p:cNvSpPr txBox="1">
            <a:spLocks/>
          </p:cNvSpPr>
          <p:nvPr userDrawn="1"/>
        </p:nvSpPr>
        <p:spPr bwMode="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/>
              <a:t>Digitaligence@work |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4240237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61390" y="1233714"/>
            <a:ext cx="4871753" cy="437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ITC Infotech_logo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050719" y="1143000"/>
            <a:ext cx="2970945" cy="159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/>
          <p:cNvSpPr txBox="1">
            <a:spLocks/>
          </p:cNvSpPr>
          <p:nvPr/>
        </p:nvSpPr>
        <p:spPr bwMode="gray">
          <a:xfrm>
            <a:off x="7116487" y="3197087"/>
            <a:ext cx="4481227" cy="141577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400" dirty="0" smtClean="0">
                <a:solidFill>
                  <a:schemeClr val="tx1"/>
                </a:solidFill>
                <a:effectLst/>
                <a:latin typeface="+mj-lt"/>
              </a:rPr>
              <a:t>Thank you</a:t>
            </a:r>
          </a:p>
          <a:p>
            <a:pPr algn="l">
              <a:spcBef>
                <a:spcPts val="0"/>
              </a:spcBef>
            </a:pP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Connect with us to understand how </a:t>
            </a:r>
            <a:b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</a:b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ITC Infotech can help your business </a:t>
            </a:r>
            <a:endParaRPr lang="en-US" sz="3600" b="0" dirty="0">
              <a:solidFill>
                <a:schemeClr val="bg1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27" name="Text Placeholder 2"/>
          <p:cNvSpPr txBox="1">
            <a:spLocks/>
          </p:cNvSpPr>
          <p:nvPr/>
        </p:nvSpPr>
        <p:spPr bwMode="gray">
          <a:xfrm>
            <a:off x="7116487" y="4701464"/>
            <a:ext cx="3628750" cy="69249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252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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504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756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008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Email: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4"/>
              </a:rPr>
              <a:t>contact.us@itcinfotech.com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Web: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5"/>
              </a:rPr>
              <a:t>www.itcinfotech.com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390" y="5219940"/>
            <a:ext cx="3587206" cy="388885"/>
          </a:xfrm>
          <a:prstGeom prst="rect">
            <a:avLst/>
          </a:prstGeom>
        </p:spPr>
      </p:pic>
      <p:grpSp>
        <p:nvGrpSpPr>
          <p:cNvPr id="29" name="Group 28"/>
          <p:cNvGrpSpPr/>
          <p:nvPr userDrawn="1"/>
        </p:nvGrpSpPr>
        <p:grpSpPr>
          <a:xfrm flipH="1">
            <a:off x="5539950" y="5457243"/>
            <a:ext cx="595380" cy="474022"/>
            <a:chOff x="5834917" y="5619476"/>
            <a:chExt cx="595380" cy="474022"/>
          </a:xfrm>
        </p:grpSpPr>
        <p:sp>
          <p:nvSpPr>
            <p:cNvPr id="30" name="Rectangle 29"/>
            <p:cNvSpPr/>
            <p:nvPr/>
          </p:nvSpPr>
          <p:spPr>
            <a:xfrm>
              <a:off x="5834917" y="5619476"/>
              <a:ext cx="270915" cy="23804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9382" y="5855450"/>
              <a:ext cx="270915" cy="23804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32" name="Group 31"/>
          <p:cNvGrpSpPr/>
          <p:nvPr userDrawn="1"/>
        </p:nvGrpSpPr>
        <p:grpSpPr>
          <a:xfrm>
            <a:off x="265113" y="664044"/>
            <a:ext cx="979136" cy="898920"/>
            <a:chOff x="10972801" y="86711"/>
            <a:chExt cx="979136" cy="898920"/>
          </a:xfrm>
        </p:grpSpPr>
        <p:sp>
          <p:nvSpPr>
            <p:cNvPr id="33" name="Rectangle 32"/>
            <p:cNvSpPr/>
            <p:nvPr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5" name="TextBox 34"/>
          <p:cNvSpPr txBox="1"/>
          <p:nvPr userDrawn="1"/>
        </p:nvSpPr>
        <p:spPr bwMode="gray">
          <a:xfrm>
            <a:off x="861390" y="6101565"/>
            <a:ext cx="28984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>
                <a:solidFill>
                  <a:schemeClr val="accent6">
                    <a:lumMod val="10000"/>
                  </a:schemeClr>
                </a:solidFill>
                <a:latin typeface="Futura Lt BT" panose="020B0402020204020303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+mn-lt"/>
              </a:rPr>
              <a:t>©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2018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ITC Infotech. All Rights Reserved.</a:t>
            </a:r>
          </a:p>
        </p:txBody>
      </p:sp>
      <p:sp>
        <p:nvSpPr>
          <p:cNvPr id="36" name="Text Box 3"/>
          <p:cNvSpPr txBox="1">
            <a:spLocks noChangeArrowheads="1"/>
          </p:cNvSpPr>
          <p:nvPr userDrawn="1"/>
        </p:nvSpPr>
        <p:spPr bwMode="gray">
          <a:xfrm>
            <a:off x="861390" y="6328660"/>
            <a:ext cx="7053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All trademarks are the registered property of the respective companies and are acknowledged</a:t>
            </a:r>
            <a:r>
              <a:rPr lang="en-US" sz="1400" dirty="0" smtClean="0">
                <a:latin typeface="+mn-lt"/>
                <a:cs typeface="Times New Roman" panose="02020603050405020304" pitchFamily="18" charset="0"/>
              </a:rPr>
              <a:t>.</a:t>
            </a:r>
            <a:endParaRPr lang="en-GB" sz="1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hlinkClick r:id="rId7"/>
          </p:cNvPr>
          <p:cNvSpPr/>
          <p:nvPr userDrawn="1"/>
        </p:nvSpPr>
        <p:spPr>
          <a:xfrm>
            <a:off x="2650021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" name="Oval 37">
            <a:hlinkClick r:id="rId8"/>
          </p:cNvPr>
          <p:cNvSpPr/>
          <p:nvPr userDrawn="1"/>
        </p:nvSpPr>
        <p:spPr>
          <a:xfrm>
            <a:off x="3034593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9" name="Oval 38">
            <a:hlinkClick r:id="rId9"/>
          </p:cNvPr>
          <p:cNvSpPr/>
          <p:nvPr userDrawn="1"/>
        </p:nvSpPr>
        <p:spPr>
          <a:xfrm>
            <a:off x="3419165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Oval 39">
            <a:hlinkClick r:id="rId10"/>
          </p:cNvPr>
          <p:cNvSpPr/>
          <p:nvPr userDrawn="1"/>
        </p:nvSpPr>
        <p:spPr>
          <a:xfrm>
            <a:off x="3803737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1" name="Oval 40">
            <a:hlinkClick r:id="rId11"/>
          </p:cNvPr>
          <p:cNvSpPr/>
          <p:nvPr userDrawn="1"/>
        </p:nvSpPr>
        <p:spPr>
          <a:xfrm>
            <a:off x="4188309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Title 1">
            <a:hlinkClick r:id="rId12"/>
          </p:cNvPr>
          <p:cNvSpPr txBox="1">
            <a:spLocks/>
          </p:cNvSpPr>
          <p:nvPr userDrawn="1"/>
        </p:nvSpPr>
        <p:spPr bwMode="gray">
          <a:xfrm>
            <a:off x="1797207" y="3608094"/>
            <a:ext cx="300011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dirty="0" smtClean="0">
                <a:solidFill>
                  <a:schemeClr val="bg1"/>
                </a:solidFill>
                <a:effectLst/>
                <a:latin typeface="+mj-lt"/>
              </a:rPr>
              <a:t>Digitaligence@work</a:t>
            </a:r>
            <a:endParaRPr lang="en-US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103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23726" y="1412775"/>
            <a:ext cx="10941377" cy="4680049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726" y="406224"/>
            <a:ext cx="10941375" cy="316800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3726" y="730800"/>
            <a:ext cx="1094137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037548" y="6477000"/>
            <a:ext cx="914162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74242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863" y="295117"/>
            <a:ext cx="11576580" cy="43088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63" y="952501"/>
            <a:ext cx="11579384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720" y="6627068"/>
            <a:ext cx="2192908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19640" y="6627068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41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effectLst/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252000" indent="-252000" algn="l" defTabSz="914400" rtl="0" eaLnBrk="1" latinLnBrk="0" hangingPunct="1">
        <a:spcBef>
          <a:spcPts val="600"/>
        </a:spcBef>
        <a:buFont typeface="Wingdings 2" pitchFamily="18" charset="2"/>
        <a:buChar char="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504000" indent="-252000" algn="l" defTabSz="914400" rtl="0" eaLnBrk="1" latinLnBrk="0" hangingPunct="1"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756000" indent="-252000" algn="l" defTabSz="914400" rtl="0" eaLnBrk="1" latinLnBrk="0" hangingPunct="1">
        <a:spcBef>
          <a:spcPts val="600"/>
        </a:spcBef>
        <a:buFont typeface="Wingdings 2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008000" indent="-252000" algn="l" defTabSz="914400" rtl="0" eaLnBrk="1" latinLnBrk="0" hangingPunct="1">
        <a:spcBef>
          <a:spcPts val="600"/>
        </a:spcBef>
        <a:buFont typeface="Arial" pitchFamily="34" charset="0"/>
        <a:buChar char="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Apttus</a:t>
            </a:r>
            <a:r>
              <a:rPr lang="en-US" dirty="0" smtClean="0"/>
              <a:t> Automation</a:t>
            </a:r>
            <a:br>
              <a:rPr lang="en-US" dirty="0" smtClean="0"/>
            </a:br>
            <a:r>
              <a:rPr lang="en-US" dirty="0" smtClean="0"/>
              <a:t>19</a:t>
            </a:r>
            <a:r>
              <a:rPr lang="en-US" baseline="30000" dirty="0" smtClean="0"/>
              <a:t>th</a:t>
            </a:r>
            <a:r>
              <a:rPr lang="en-US" dirty="0"/>
              <a:t> </a:t>
            </a:r>
            <a:r>
              <a:rPr lang="en-US" dirty="0" smtClean="0"/>
              <a:t>June</a:t>
            </a:r>
            <a:r>
              <a:rPr lang="en-US" dirty="0" smtClean="0"/>
              <a:t> 2019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29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2</a:t>
            </a:fld>
            <a:endParaRPr lang="en-IN" dirty="0"/>
          </a:p>
        </p:txBody>
      </p:sp>
      <p:grpSp>
        <p:nvGrpSpPr>
          <p:cNvPr id="13" name="Group 12"/>
          <p:cNvGrpSpPr/>
          <p:nvPr/>
        </p:nvGrpSpPr>
        <p:grpSpPr>
          <a:xfrm>
            <a:off x="1813015" y="662683"/>
            <a:ext cx="7971064" cy="1834945"/>
            <a:chOff x="1812103" y="662684"/>
            <a:chExt cx="6620697" cy="1768291"/>
          </a:xfrm>
        </p:grpSpPr>
        <p:sp>
          <p:nvSpPr>
            <p:cNvPr id="21" name="Rectangle 20"/>
            <p:cNvSpPr/>
            <p:nvPr/>
          </p:nvSpPr>
          <p:spPr>
            <a:xfrm>
              <a:off x="2450870" y="664401"/>
              <a:ext cx="5981930" cy="360588"/>
            </a:xfrm>
            <a:prstGeom prst="rect">
              <a:avLst/>
            </a:prstGeom>
            <a:noFill/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00"/>
                  </a:solidFill>
                  <a:cs typeface="Arial" panose="020B0604020202020204" pitchFamily="34" charset="0"/>
                </a:rPr>
                <a:t>Introduction 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98487" y="664401"/>
              <a:ext cx="134311" cy="36058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450869" y="1133544"/>
              <a:ext cx="5981930" cy="364258"/>
            </a:xfrm>
            <a:prstGeom prst="rect">
              <a:avLst/>
            </a:prstGeom>
            <a:noFill/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err="1" smtClean="0">
                  <a:solidFill>
                    <a:srgbClr val="000000"/>
                  </a:solidFill>
                  <a:cs typeface="Arial" panose="020B0604020202020204" pitchFamily="34" charset="0"/>
                </a:rPr>
                <a:t>Apttus</a:t>
              </a:r>
              <a:r>
                <a:rPr lang="en-US" b="1" dirty="0" smtClean="0">
                  <a:solidFill>
                    <a:srgbClr val="000000"/>
                  </a:solidFill>
                  <a:cs typeface="Arial" panose="020B0604020202020204" pitchFamily="34" charset="0"/>
                </a:rPr>
                <a:t> Modules</a:t>
              </a:r>
              <a:endParaRPr lang="en-US" b="1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98486" y="1137214"/>
              <a:ext cx="134311" cy="36058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450868" y="1606561"/>
              <a:ext cx="5981930" cy="360588"/>
            </a:xfrm>
            <a:prstGeom prst="rect">
              <a:avLst/>
            </a:prstGeom>
            <a:noFill/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err="1" smtClean="0">
                  <a:solidFill>
                    <a:srgbClr val="000000"/>
                  </a:solidFill>
                  <a:cs typeface="Arial" panose="020B0604020202020204" pitchFamily="34" charset="0"/>
                </a:rPr>
                <a:t>Apttus</a:t>
              </a:r>
              <a:r>
                <a:rPr lang="en-US" b="1" dirty="0" smtClean="0">
                  <a:solidFill>
                    <a:srgbClr val="000000"/>
                  </a:solidFill>
                  <a:cs typeface="Arial" panose="020B0604020202020204" pitchFamily="34" charset="0"/>
                </a:rPr>
                <a:t> Framework  </a:t>
              </a:r>
              <a:endParaRPr lang="en-US" b="1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298485" y="1606561"/>
              <a:ext cx="134311" cy="36058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450867" y="2070387"/>
              <a:ext cx="5981930" cy="360588"/>
            </a:xfrm>
            <a:prstGeom prst="rect">
              <a:avLst/>
            </a:prstGeom>
            <a:noFill/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00"/>
                  </a:solidFill>
                  <a:cs typeface="Arial" panose="020B0604020202020204" pitchFamily="34" charset="0"/>
                </a:rPr>
                <a:t>Test Automation </a:t>
              </a:r>
              <a:r>
                <a:rPr lang="en-US" b="1" dirty="0" smtClean="0">
                  <a:solidFill>
                    <a:srgbClr val="000000"/>
                  </a:solidFill>
                  <a:cs typeface="Arial" panose="020B0604020202020204" pitchFamily="34" charset="0"/>
                </a:rPr>
                <a:t>Practices (Review Process)</a:t>
              </a:r>
              <a:endParaRPr lang="en-US" b="1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298484" y="2070387"/>
              <a:ext cx="134311" cy="36058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812103" y="662684"/>
              <a:ext cx="519466" cy="1768291"/>
              <a:chOff x="1549321" y="1565091"/>
              <a:chExt cx="804286" cy="2140277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1549321" y="1565091"/>
                <a:ext cx="804282" cy="436443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549325" y="2139445"/>
                <a:ext cx="804282" cy="436443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549323" y="2707526"/>
                <a:ext cx="804282" cy="436443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549321" y="3268925"/>
                <a:ext cx="804282" cy="436443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62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500" dirty="0">
                <a:latin typeface="+mn-lt"/>
                <a:ea typeface="+mn-ea"/>
                <a:cs typeface="+mn-cs"/>
              </a:rPr>
              <a:t>	</a:t>
            </a:r>
            <a:r>
              <a:rPr lang="en-US" sz="2500" dirty="0" err="1" smtClean="0">
                <a:latin typeface="+mn-lt"/>
                <a:ea typeface="+mn-ea"/>
                <a:cs typeface="+mn-cs"/>
              </a:rPr>
              <a:t>Apttus</a:t>
            </a:r>
            <a:r>
              <a:rPr lang="en-US" sz="2500" dirty="0" smtClean="0">
                <a:latin typeface="+mn-lt"/>
                <a:ea typeface="+mn-ea"/>
                <a:cs typeface="+mn-cs"/>
              </a:rPr>
              <a:t> Introduction</a:t>
            </a:r>
            <a:endParaRPr lang="en-US" sz="25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4060" y="6647588"/>
            <a:ext cx="2101537" cy="153888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©2018 ITC Infotech. All Rights Reserved.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5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APTTUS MODULES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65020" y="1193800"/>
            <a:ext cx="112522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	</a:t>
            </a:r>
            <a:r>
              <a:rPr lang="en-US" b="1" dirty="0" smtClean="0"/>
              <a:t>CLM</a:t>
            </a:r>
            <a:r>
              <a:rPr lang="en-US" b="1" dirty="0" smtClean="0"/>
              <a:t> </a:t>
            </a:r>
            <a:r>
              <a:rPr lang="en-US" b="1" dirty="0" smtClean="0"/>
              <a:t>						</a:t>
            </a:r>
            <a:r>
              <a:rPr lang="en-US" b="1" dirty="0"/>
              <a:t>	</a:t>
            </a:r>
            <a:r>
              <a:rPr lang="en-US" b="1" dirty="0" smtClean="0"/>
              <a:t>OM  </a:t>
            </a:r>
            <a:r>
              <a:rPr lang="en-US" b="1" dirty="0"/>
              <a:t>	</a:t>
            </a:r>
            <a:endParaRPr lang="en-US" b="1" dirty="0"/>
          </a:p>
          <a:p>
            <a:r>
              <a:rPr lang="en-US" b="1" dirty="0" smtClean="0"/>
              <a:t>							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AWA</a:t>
            </a:r>
            <a:r>
              <a:rPr lang="en-US" b="1" dirty="0"/>
              <a:t>							</a:t>
            </a:r>
            <a:r>
              <a:rPr lang="en-US" b="1" dirty="0" smtClean="0"/>
              <a:t>BILLING</a:t>
            </a:r>
            <a:r>
              <a:rPr lang="en-US" b="1" dirty="0" smtClean="0"/>
              <a:t> </a:t>
            </a:r>
            <a:endParaRPr lang="en-US" b="1" dirty="0"/>
          </a:p>
          <a:p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14087" y="1788091"/>
            <a:ext cx="3726206" cy="147941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1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Its related</a:t>
            </a:r>
            <a:r>
              <a:rPr kumimoji="0" lang="en-US" sz="13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to contract life cycle where we can create agreement and perform action like amend , expire , terminate etc. 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43" y="1137152"/>
            <a:ext cx="499994" cy="498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7743" y="4246511"/>
            <a:ext cx="3726206" cy="202560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1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kumimoji="0" lang="en-US" sz="13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module is related to all kinds of approval.	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30368" y="4239074"/>
            <a:ext cx="3726206" cy="2089687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85750" marR="0" lvl="1" indent="-28575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Billing</a:t>
            </a:r>
            <a:r>
              <a:rPr kumimoji="0" lang="en-US" sz="13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is related to initiate billing for order and generate the invoice.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17305" y="1793875"/>
            <a:ext cx="3726206" cy="147941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85750" marR="0" lvl="1" indent="-28575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kumimoji="0" lang="en-US" sz="13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module is related ton order management where we can create an order and perform various operation like order fulfillment</a:t>
            </a: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cancel order , amend order.</a:t>
            </a:r>
          </a:p>
          <a:p>
            <a:pPr marL="285750" marR="0" lvl="1" indent="-28575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kumimoji="0" lang="en-US" sz="13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is related to B to C as well as B 2 B.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368" y="1061662"/>
            <a:ext cx="499994" cy="4986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43" y="3559695"/>
            <a:ext cx="499994" cy="4986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202" y="3505943"/>
            <a:ext cx="499994" cy="49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6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879486" y="2442169"/>
            <a:ext cx="5913200" cy="1231106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APTTUS FRAMEWORK </a:t>
            </a:r>
            <a:br>
              <a:rPr lang="en-US" sz="3600" dirty="0" smtClean="0">
                <a:solidFill>
                  <a:srgbClr val="000000"/>
                </a:solidFill>
              </a:rPr>
            </a:br>
            <a:r>
              <a:rPr lang="en-US" sz="3600" dirty="0" smtClean="0">
                <a:solidFill>
                  <a:srgbClr val="000000"/>
                </a:solidFill>
              </a:rPr>
              <a:t>DESIGN</a:t>
            </a:r>
            <a:br>
              <a:rPr lang="en-US" sz="3600" dirty="0" smtClean="0">
                <a:solidFill>
                  <a:srgbClr val="000000"/>
                </a:solidFill>
              </a:rPr>
            </a:b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4060" y="6647588"/>
            <a:ext cx="2101537" cy="153888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©2018 ITC Infotech. All Rights Reserved.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5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68" y="193286"/>
            <a:ext cx="10427617" cy="492443"/>
          </a:xfrm>
        </p:spPr>
        <p:txBody>
          <a:bodyPr/>
          <a:lstStyle/>
          <a:p>
            <a:r>
              <a:rPr lang="en-US" dirty="0" smtClean="0"/>
              <a:t>Framework </a:t>
            </a:r>
            <a:r>
              <a:rPr lang="en-US" dirty="0"/>
              <a:t>A</a:t>
            </a:r>
            <a:r>
              <a:rPr lang="en-US" dirty="0" smtClean="0"/>
              <a:t>rchitecture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69276" y="1006368"/>
            <a:ext cx="2233748" cy="10580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Automation UI                  Synthesizer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6030687" y="875740"/>
            <a:ext cx="2116182" cy="13193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Automation Web Builder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36618" y="4919040"/>
            <a:ext cx="2116182" cy="13193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APPLICATION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8252" y="4919040"/>
            <a:ext cx="2116182" cy="13193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SFDC </a:t>
            </a:r>
            <a:r>
              <a:rPr lang="en-US" b="1" dirty="0" smtClean="0">
                <a:solidFill>
                  <a:schemeClr val="tx1"/>
                </a:solidFill>
              </a:rPr>
              <a:t>API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08868" y="2333897"/>
            <a:ext cx="2116182" cy="13193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SFDC Acolyte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83876" y="2897390"/>
            <a:ext cx="2116182" cy="13193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4140926" y="3396343"/>
            <a:ext cx="1423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Automation Script</a:t>
            </a:r>
            <a:endParaRPr lang="en-US" b="1" dirty="0"/>
          </a:p>
        </p:txBody>
      </p:sp>
      <p:cxnSp>
        <p:nvCxnSpPr>
          <p:cNvPr id="15" name="Elbow Connector 14"/>
          <p:cNvCxnSpPr>
            <a:stCxn id="6" idx="3"/>
            <a:endCxn id="11" idx="0"/>
          </p:cNvCxnSpPr>
          <p:nvPr/>
        </p:nvCxnSpPr>
        <p:spPr>
          <a:xfrm>
            <a:off x="3503024" y="1535414"/>
            <a:ext cx="1338943" cy="136197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6" idx="2"/>
            <a:endCxn id="11" idx="1"/>
          </p:cNvCxnSpPr>
          <p:nvPr/>
        </p:nvCxnSpPr>
        <p:spPr>
          <a:xfrm rot="16200000" flipH="1">
            <a:off x="2338711" y="2111899"/>
            <a:ext cx="1492605" cy="139772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 rot="5400000">
            <a:off x="5865266" y="2437215"/>
            <a:ext cx="1338856" cy="1225735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7" idx="3"/>
            <a:endCxn id="10" idx="0"/>
          </p:cNvCxnSpPr>
          <p:nvPr/>
        </p:nvCxnSpPr>
        <p:spPr>
          <a:xfrm>
            <a:off x="8146869" y="1535415"/>
            <a:ext cx="1820090" cy="798482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0" idx="1"/>
          </p:cNvCxnSpPr>
          <p:nvPr/>
        </p:nvCxnSpPr>
        <p:spPr>
          <a:xfrm rot="10800000">
            <a:off x="7550332" y="2195088"/>
            <a:ext cx="1358537" cy="7984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6200000" flipH="1">
            <a:off x="4814122" y="4244585"/>
            <a:ext cx="1361976" cy="130628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5400000">
            <a:off x="3010252" y="4559288"/>
            <a:ext cx="1504792" cy="819695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1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Test Automation Practices (Review Process)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836023" y="1541417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1541417"/>
            <a:ext cx="258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Internal Peer Review 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851777" y="2137954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Function review with client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6023" y="2734491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Code review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1777" y="3326801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1777" y="3313738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Code </a:t>
            </a:r>
            <a:r>
              <a:rPr lang="en-US" b="1" dirty="0" smtClean="0">
                <a:solidFill>
                  <a:schemeClr val="tx1"/>
                </a:solidFill>
              </a:rPr>
              <a:t>push to branch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1777" y="3999865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PR request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1777" y="4651101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 </a:t>
            </a:r>
            <a:r>
              <a:rPr lang="en-US" b="1" dirty="0" smtClean="0">
                <a:solidFill>
                  <a:schemeClr val="tx1"/>
                </a:solidFill>
              </a:rPr>
              <a:t>Approval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1777" y="5198426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 </a:t>
            </a:r>
            <a:r>
              <a:rPr lang="en-US" b="1" dirty="0" smtClean="0">
                <a:solidFill>
                  <a:schemeClr val="tx1"/>
                </a:solidFill>
              </a:rPr>
              <a:t>merge to master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51777" y="5790736"/>
            <a:ext cx="3108960" cy="36933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Test execution in Jenkins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73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3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5 ITC Infotech Template">
  <a:themeElements>
    <a:clrScheme name="ITC Infotech 2015">
      <a:dk1>
        <a:srgbClr val="000000"/>
      </a:dk1>
      <a:lt1>
        <a:srgbClr val="FFFFFF"/>
      </a:lt1>
      <a:dk2>
        <a:srgbClr val="7F7F7F"/>
      </a:dk2>
      <a:lt2>
        <a:srgbClr val="7F7F7F"/>
      </a:lt2>
      <a:accent1>
        <a:srgbClr val="C8DC28"/>
      </a:accent1>
      <a:accent2>
        <a:srgbClr val="642882"/>
      </a:accent2>
      <a:accent3>
        <a:srgbClr val="7F7F7F"/>
      </a:accent3>
      <a:accent4>
        <a:srgbClr val="E5E5E5"/>
      </a:accent4>
      <a:accent5>
        <a:srgbClr val="F2F2F2"/>
      </a:accent5>
      <a:accent6>
        <a:srgbClr val="7F7F7F"/>
      </a:accent6>
      <a:hlink>
        <a:srgbClr val="002060"/>
      </a:hlink>
      <a:folHlink>
        <a:srgbClr val="002060"/>
      </a:folHlink>
    </a:clrScheme>
    <a:fontScheme name="ITC Infotitan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15 ITC Infotech Template" id="{0F0EA5AB-7595-4F8E-904A-6F674BAA2F94}" vid="{3D20AD07-A66A-4E9A-B2D7-C7CAC47E71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2015 ITC Infotech Template</Template>
  <TotalTime>22924</TotalTime>
  <Words>226</Words>
  <Application>Microsoft Office PowerPoint</Application>
  <PresentationFormat>Custom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Times New Roman</vt:lpstr>
      <vt:lpstr>Wingdings</vt:lpstr>
      <vt:lpstr>Wingdings 2</vt:lpstr>
      <vt:lpstr>2015 ITC Infotech Template</vt:lpstr>
      <vt:lpstr>Apttus Automation 19th June 2019</vt:lpstr>
      <vt:lpstr>Agenda</vt:lpstr>
      <vt:lpstr> Apttus Introduction</vt:lpstr>
      <vt:lpstr>APTTUS MODULES</vt:lpstr>
      <vt:lpstr>APTTUS FRAMEWORK  DESIGN </vt:lpstr>
      <vt:lpstr>Framework Architecture</vt:lpstr>
      <vt:lpstr>Test Automation Practices (Review Process)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Finnair</dc:title>
  <dc:creator>Faizan.Khan@itcinfotech.com</dc:creator>
  <cp:lastModifiedBy>Kumar Vikash</cp:lastModifiedBy>
  <cp:revision>831</cp:revision>
  <cp:lastPrinted>2017-08-11T08:50:46Z</cp:lastPrinted>
  <dcterms:created xsi:type="dcterms:W3CDTF">2012-03-05T08:30:28Z</dcterms:created>
  <dcterms:modified xsi:type="dcterms:W3CDTF">2019-06-19T09:52:43Z</dcterms:modified>
</cp:coreProperties>
</file>