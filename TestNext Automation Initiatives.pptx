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16"/>
  </p:notesMasterIdLst>
  <p:handoutMasterIdLst>
    <p:handoutMasterId r:id="rId17"/>
  </p:handoutMasterIdLst>
  <p:sldIdLst>
    <p:sldId id="391" r:id="rId5"/>
    <p:sldId id="609" r:id="rId6"/>
    <p:sldId id="584" r:id="rId7"/>
    <p:sldId id="601" r:id="rId8"/>
    <p:sldId id="603" r:id="rId9"/>
    <p:sldId id="604" r:id="rId10"/>
    <p:sldId id="608" r:id="rId11"/>
    <p:sldId id="605" r:id="rId12"/>
    <p:sldId id="606" r:id="rId13"/>
    <p:sldId id="610" r:id="rId14"/>
    <p:sldId id="432" r:id="rId15"/>
  </p:sldIdLst>
  <p:sldSz cx="12188825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3" pos="167" userDrawn="1">
          <p15:clr>
            <a:srgbClr val="A4A3A4"/>
          </p15:clr>
        </p15:guide>
        <p15:guide id="4" pos="7487" userDrawn="1">
          <p15:clr>
            <a:srgbClr val="A4A3A4"/>
          </p15:clr>
        </p15:guide>
        <p15:guide id="5" orient="horz" pos="41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mar Vikash" initials="KV" lastIdx="1" clrIdx="0">
    <p:extLst>
      <p:ext uri="{19B8F6BF-5375-455C-9EA6-DF929625EA0E}">
        <p15:presenceInfo xmlns:p15="http://schemas.microsoft.com/office/powerpoint/2012/main" userId="Kumar Vikas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E8F6"/>
    <a:srgbClr val="CCECFF"/>
    <a:srgbClr val="D9D9D9"/>
    <a:srgbClr val="F2F2F2"/>
    <a:srgbClr val="E9F1A9"/>
    <a:srgbClr val="E3CBEF"/>
    <a:srgbClr val="F7C21A"/>
    <a:srgbClr val="FAD560"/>
    <a:srgbClr val="126F6C"/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956" autoAdjust="0"/>
    <p:restoredTop sz="96473" autoAdjust="0"/>
  </p:normalViewPr>
  <p:slideViewPr>
    <p:cSldViewPr snapToGrid="0">
      <p:cViewPr varScale="1">
        <p:scale>
          <a:sx n="73" d="100"/>
          <a:sy n="73" d="100"/>
        </p:scale>
        <p:origin x="1038" y="66"/>
      </p:cViewPr>
      <p:guideLst>
        <p:guide orient="horz" pos="720"/>
        <p:guide pos="167"/>
        <p:guide pos="7487"/>
        <p:guide orient="horz" pos="415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howGuides="1">
      <p:cViewPr varScale="1">
        <p:scale>
          <a:sx n="54" d="100"/>
          <a:sy n="54" d="100"/>
        </p:scale>
        <p:origin x="27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1-21T17:19:48.699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E54D0-C845-4F07-B48A-EE70AE648F0F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613E3-2069-4161-89EE-9C797D274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545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3B8F8FF-98EF-4AB4-9019-1077724CDD04}" type="datetimeFigureOut">
              <a:rPr lang="en-US" smtClean="0"/>
              <a:pPr/>
              <a:t>1/21/2019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442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4C09707-4C2A-43E7-A569-73EA1376F3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330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C09707-4C2A-43E7-A569-73EA1376F372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193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itcinfotech" TargetMode="External"/><Relationship Id="rId3" Type="http://schemas.openxmlformats.org/officeDocument/2006/relationships/image" Target="../media/image4.jpeg"/><Relationship Id="rId7" Type="http://schemas.openxmlformats.org/officeDocument/2006/relationships/hyperlink" Target="https://www.facebook.com/itcinfotech/" TargetMode="External"/><Relationship Id="rId12" Type="http://schemas.openxmlformats.org/officeDocument/2006/relationships/hyperlink" Target="http://www.itcinfotech.com/digitaligence/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hyperlink" Target="https://www.youtube.com/user/ITCInfotech1" TargetMode="External"/><Relationship Id="rId5" Type="http://schemas.openxmlformats.org/officeDocument/2006/relationships/hyperlink" Target="http://www.itcinfotech.com/" TargetMode="External"/><Relationship Id="rId10" Type="http://schemas.openxmlformats.org/officeDocument/2006/relationships/hyperlink" Target="https://plus.google.com/+itcinfotech" TargetMode="External"/><Relationship Id="rId4" Type="http://schemas.openxmlformats.org/officeDocument/2006/relationships/hyperlink" Target="mailto:contact.us@itcinfotech.com" TargetMode="External"/><Relationship Id="rId9" Type="http://schemas.openxmlformats.org/officeDocument/2006/relationships/hyperlink" Target="https://www.linkedin.com/company/itc-infotech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" y="0"/>
            <a:ext cx="12186960" cy="4857362"/>
          </a:xfrm>
          <a:prstGeom prst="rect">
            <a:avLst/>
          </a:prstGeom>
        </p:spPr>
      </p:pic>
      <p:grpSp>
        <p:nvGrpSpPr>
          <p:cNvPr id="28" name="Group 27"/>
          <p:cNvGrpSpPr/>
          <p:nvPr/>
        </p:nvGrpSpPr>
        <p:grpSpPr>
          <a:xfrm>
            <a:off x="-1" y="4861339"/>
            <a:ext cx="12188827" cy="312057"/>
            <a:chOff x="-1" y="4610742"/>
            <a:chExt cx="12188827" cy="570858"/>
          </a:xfrm>
        </p:grpSpPr>
        <p:sp>
          <p:nvSpPr>
            <p:cNvPr id="30" name="Rectangle 29"/>
            <p:cNvSpPr/>
            <p:nvPr userDrawn="1"/>
          </p:nvSpPr>
          <p:spPr>
            <a:xfrm>
              <a:off x="6081714" y="4610742"/>
              <a:ext cx="6107112" cy="570858"/>
            </a:xfrm>
            <a:prstGeom prst="rect">
              <a:avLst/>
            </a:prstGeom>
            <a:solidFill>
              <a:srgbClr val="642882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 userDrawn="1"/>
          </p:nvSpPr>
          <p:spPr>
            <a:xfrm>
              <a:off x="-1" y="4610742"/>
              <a:ext cx="6091279" cy="570858"/>
            </a:xfrm>
            <a:prstGeom prst="rect">
              <a:avLst/>
            </a:prstGeom>
            <a:solidFill>
              <a:srgbClr val="C8DC28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9" name="Title 5"/>
          <p:cNvSpPr txBox="1">
            <a:spLocks/>
          </p:cNvSpPr>
          <p:nvPr/>
        </p:nvSpPr>
        <p:spPr bwMode="gray">
          <a:xfrm>
            <a:off x="10044255" y="4849109"/>
            <a:ext cx="2026067" cy="3077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effectLst/>
                <a:latin typeface="+mj-lt"/>
                <a:ea typeface="+mj-ea"/>
                <a:cs typeface="Calibri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j-ea"/>
              </a:rPr>
              <a:t>Digitaligence@work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j-ea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 bwMode="gray">
          <a:xfrm>
            <a:off x="304719" y="4003266"/>
            <a:ext cx="11438790" cy="553998"/>
          </a:xfrm>
        </p:spPr>
        <p:txBody>
          <a:bodyPr wrap="square" lIns="0" tIns="0" rIns="0" bIns="0" anchor="ctr">
            <a:spAutoFit/>
          </a:bodyPr>
          <a:lstStyle>
            <a:lvl1pPr algn="ctr">
              <a:defRPr sz="3600" b="1">
                <a:solidFill>
                  <a:schemeClr val="bg1"/>
                </a:solidFill>
                <a:effectLst/>
                <a:latin typeface="+mj-lt"/>
                <a:cs typeface="Calibr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 userDrawn="1">
            <p:ph type="ftr" sz="quarter" idx="11"/>
          </p:nvPr>
        </p:nvSpPr>
        <p:spPr bwMode="gray">
          <a:xfrm>
            <a:off x="304720" y="6648466"/>
            <a:ext cx="2101537" cy="153888"/>
          </a:xfrm>
        </p:spPr>
        <p:txBody>
          <a:bodyPr wrap="none" lIns="0" tIns="0" rIns="0" bIns="0" anchor="b">
            <a:sp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©2018 ITC Infotech. All Rights Reserved.</a:t>
            </a: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 userDrawn="1">
            <p:ph type="sldNum" sz="quarter" idx="12"/>
          </p:nvPr>
        </p:nvSpPr>
        <p:spPr bwMode="gray">
          <a:xfrm>
            <a:off x="11699565" y="6648466"/>
            <a:ext cx="150682" cy="153888"/>
          </a:xfrm>
        </p:spPr>
        <p:txBody>
          <a:bodyPr wrap="none" lIns="0" tIns="0" rIns="0" bIns="0" anchor="b">
            <a:spAutoFit/>
          </a:bodyPr>
          <a:lstStyle>
            <a:lvl1pPr>
              <a:defRPr sz="1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53CF2EA8-35F1-4A35-9763-13466C1417DD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10871111" y="86711"/>
            <a:ext cx="979136" cy="898920"/>
            <a:chOff x="10972801" y="86711"/>
            <a:chExt cx="979136" cy="898920"/>
          </a:xfrm>
        </p:grpSpPr>
        <p:sp>
          <p:nvSpPr>
            <p:cNvPr id="37" name="Rectangle 36"/>
            <p:cNvSpPr/>
            <p:nvPr userDrawn="1"/>
          </p:nvSpPr>
          <p:spPr>
            <a:xfrm>
              <a:off x="11481621" y="86711"/>
              <a:ext cx="470316" cy="4207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000" dirty="0" err="1" smtClean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Rectangle 37"/>
            <p:cNvSpPr/>
            <p:nvPr userDrawn="1"/>
          </p:nvSpPr>
          <p:spPr>
            <a:xfrm>
              <a:off x="10972801" y="564845"/>
              <a:ext cx="469097" cy="42078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 err="1" smtClean="0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19555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 rot="16200000" flipH="1">
            <a:off x="4861893" y="1730929"/>
            <a:ext cx="265176" cy="9988964"/>
          </a:xfrm>
          <a:prstGeom prst="rect">
            <a:avLst/>
          </a:prstGeom>
          <a:solidFill>
            <a:srgbClr val="C8DC28"/>
          </a:solidFill>
          <a:ln w="9525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 err="1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 rot="16200000" flipH="1">
            <a:off x="10778991" y="5448166"/>
            <a:ext cx="265176" cy="2554493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 err="1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Title 5"/>
          <p:cNvSpPr txBox="1">
            <a:spLocks/>
          </p:cNvSpPr>
          <p:nvPr/>
        </p:nvSpPr>
        <p:spPr bwMode="invGray">
          <a:xfrm>
            <a:off x="10414427" y="6648466"/>
            <a:ext cx="1126911" cy="153888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chemeClr val="bg1"/>
                </a:solidFill>
                <a:cs typeface="Arial" pitchFamily="34" charset="0"/>
              </a:defRPr>
            </a:lvl1pPr>
          </a:lstStyle>
          <a:p>
            <a:pPr lvl="0"/>
            <a:r>
              <a:rPr lang="en-US" sz="1000" noProof="0" dirty="0" smtClean="0">
                <a:latin typeface="+mn-lt"/>
              </a:rPr>
              <a:t>Digitaligence@work |</a:t>
            </a:r>
            <a:endParaRPr lang="en-US" sz="1000" noProof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 bwMode="gray">
          <a:xfrm>
            <a:off x="270862" y="232373"/>
            <a:ext cx="10427617" cy="492443"/>
          </a:xfrm>
        </p:spPr>
        <p:txBody>
          <a:bodyPr anchor="ctr"/>
          <a:lstStyle>
            <a:lvl1pPr algn="l">
              <a:defRPr sz="3200" b="1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270863" y="1151284"/>
            <a:ext cx="11579384" cy="1538883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304720" y="6648466"/>
            <a:ext cx="2101537" cy="15388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smtClean="0"/>
              <a:t>©2018 ITC Infotech. All Rights Reserved.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1699565" y="6648466"/>
            <a:ext cx="150682" cy="153888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53CF2EA8-35F1-4A35-9763-13466C1417DD}" type="slidenum">
              <a:rPr lang="en-IN" smtClean="0"/>
              <a:pPr/>
              <a:t>‹#›</a:t>
            </a:fld>
            <a:endParaRPr lang="en-IN" dirty="0"/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10871111" y="86711"/>
            <a:ext cx="979136" cy="898920"/>
            <a:chOff x="10972801" y="86711"/>
            <a:chExt cx="979136" cy="898920"/>
          </a:xfrm>
        </p:grpSpPr>
        <p:sp>
          <p:nvSpPr>
            <p:cNvPr id="29" name="Rectangle 28"/>
            <p:cNvSpPr/>
            <p:nvPr userDrawn="1"/>
          </p:nvSpPr>
          <p:spPr>
            <a:xfrm>
              <a:off x="11481621" y="86711"/>
              <a:ext cx="470316" cy="4207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 err="1" smtClean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/>
            <p:cNvSpPr/>
            <p:nvPr userDrawn="1"/>
          </p:nvSpPr>
          <p:spPr>
            <a:xfrm>
              <a:off x="10972801" y="564845"/>
              <a:ext cx="469097" cy="42078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 smtClean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842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10539" y="0"/>
            <a:ext cx="58782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304720" y="2813447"/>
            <a:ext cx="5913200" cy="1231106"/>
          </a:xfrm>
        </p:spPr>
        <p:txBody>
          <a:bodyPr anchor="ctr"/>
          <a:lstStyle>
            <a:lvl1pPr algn="ctr">
              <a:defRPr sz="4000" b="1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9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304720" y="6648466"/>
            <a:ext cx="2101537" cy="153888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smtClean="0"/>
              <a:t>©2018 ITC Infotech. All Rights Reserved.</a:t>
            </a:r>
            <a:endParaRPr lang="en-IN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10871111" y="86711"/>
            <a:ext cx="979136" cy="898920"/>
            <a:chOff x="10972801" y="86711"/>
            <a:chExt cx="979136" cy="898920"/>
          </a:xfrm>
        </p:grpSpPr>
        <p:sp>
          <p:nvSpPr>
            <p:cNvPr id="25" name="Rectangle 24"/>
            <p:cNvSpPr/>
            <p:nvPr userDrawn="1"/>
          </p:nvSpPr>
          <p:spPr>
            <a:xfrm>
              <a:off x="11481621" y="86711"/>
              <a:ext cx="470316" cy="4207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000" dirty="0" err="1" smtClean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10972801" y="564845"/>
              <a:ext cx="469097" cy="42078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 err="1" smtClean="0">
                <a:solidFill>
                  <a:schemeClr val="tx1"/>
                </a:solidFill>
              </a:endParaRPr>
            </a:p>
          </p:txBody>
        </p:sp>
      </p:grpSp>
      <p:sp>
        <p:nvSpPr>
          <p:cNvPr id="10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1699565" y="6648466"/>
            <a:ext cx="150682" cy="153888"/>
          </a:xfrm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+mn-lt"/>
              </a:defRPr>
            </a:lvl1pPr>
          </a:lstStyle>
          <a:p>
            <a:fld id="{53CF2EA8-35F1-4A35-9763-13466C1417DD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9" name="Title 5"/>
          <p:cNvSpPr txBox="1">
            <a:spLocks/>
          </p:cNvSpPr>
          <p:nvPr userDrawn="1"/>
        </p:nvSpPr>
        <p:spPr bwMode="gray">
          <a:xfrm>
            <a:off x="10414427" y="6648466"/>
            <a:ext cx="1126911" cy="153888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chemeClr val="bg1"/>
                </a:solidFill>
                <a:cs typeface="Arial" pitchFamily="34" charset="0"/>
              </a:defRPr>
            </a:lvl1pPr>
          </a:lstStyle>
          <a:p>
            <a:pPr lvl="0"/>
            <a:r>
              <a:rPr lang="en-US" sz="1000" noProof="0" dirty="0" smtClean="0"/>
              <a:t>Digitaligence@work |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42402379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861390" y="1233714"/>
            <a:ext cx="4871753" cy="4375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 descr="ITC Infotech_logo"/>
          <p:cNvPicPr>
            <a:picLocks noChangeAspect="1" noChangeArrowheads="1"/>
          </p:cNvPicPr>
          <p:nvPr userDrawn="1"/>
        </p:nvPicPr>
        <p:blipFill>
          <a:blip r:embed="rId3" cstate="email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7050719" y="1143000"/>
            <a:ext cx="2970945" cy="1598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itle 1"/>
          <p:cNvSpPr txBox="1">
            <a:spLocks/>
          </p:cNvSpPr>
          <p:nvPr/>
        </p:nvSpPr>
        <p:spPr bwMode="gray">
          <a:xfrm>
            <a:off x="7116487" y="3197087"/>
            <a:ext cx="4481227" cy="141577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Arial" pitchFamily="34" charset="0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4400" dirty="0" smtClean="0">
                <a:solidFill>
                  <a:schemeClr val="tx1"/>
                </a:solidFill>
                <a:effectLst/>
                <a:latin typeface="+mj-lt"/>
              </a:rPr>
              <a:t>Thank you</a:t>
            </a:r>
          </a:p>
          <a:p>
            <a:pPr algn="l">
              <a:spcBef>
                <a:spcPts val="0"/>
              </a:spcBef>
            </a:pPr>
            <a:r>
              <a:rPr lang="en-US" sz="2400" b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Connect with us to understand how </a:t>
            </a:r>
            <a:br>
              <a:rPr lang="en-US" sz="2400" b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</a:br>
            <a:r>
              <a:rPr lang="en-US" sz="2400" b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ITC Infotech can help your business </a:t>
            </a:r>
            <a:endParaRPr lang="en-US" sz="3600" b="0" dirty="0">
              <a:solidFill>
                <a:schemeClr val="bg1">
                  <a:lumMod val="50000"/>
                </a:schemeClr>
              </a:solidFill>
              <a:effectLst/>
              <a:latin typeface="+mn-lt"/>
            </a:endParaRPr>
          </a:p>
        </p:txBody>
      </p:sp>
      <p:sp>
        <p:nvSpPr>
          <p:cNvPr id="27" name="Text Placeholder 2"/>
          <p:cNvSpPr txBox="1">
            <a:spLocks/>
          </p:cNvSpPr>
          <p:nvPr/>
        </p:nvSpPr>
        <p:spPr bwMode="gray">
          <a:xfrm>
            <a:off x="7116487" y="4701464"/>
            <a:ext cx="3628750" cy="69249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252000" indent="-252000" algn="l" defTabSz="914400" rtl="0" eaLnBrk="1" latinLnBrk="0" hangingPunct="1">
              <a:spcBef>
                <a:spcPts val="600"/>
              </a:spcBef>
              <a:buFont typeface="Wingdings 2" pitchFamily="18" charset="2"/>
              <a:buChar char="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2pPr>
            <a:lvl3pPr marL="504000" indent="-252000" algn="l" defTabSz="914400" rtl="0" eaLnBrk="1" latinLnBrk="0" hangingPunct="1"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3pPr>
            <a:lvl4pPr marL="756000" indent="-252000" algn="l" defTabSz="914400" rtl="0" eaLnBrk="1" latinLnBrk="0" hangingPunct="1">
              <a:spcBef>
                <a:spcPts val="600"/>
              </a:spcBef>
              <a:buFont typeface="Wingdings 2" pitchFamily="18" charset="2"/>
              <a:buChar char="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4pPr>
            <a:lvl5pPr marL="1008000" indent="-252000" algn="l" defTabSz="914400" rtl="0" eaLnBrk="1" latinLnBrk="0" hangingPunct="1">
              <a:spcBef>
                <a:spcPts val="600"/>
              </a:spcBef>
              <a:buFont typeface="Arial" pitchFamily="34" charset="0"/>
              <a:buChar char="˗"/>
              <a:defRPr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Email: </a:t>
            </a:r>
            <a:r>
              <a:rPr lang="en-US" sz="2000" u="sng" dirty="0" smtClean="0">
                <a:solidFill>
                  <a:schemeClr val="bg1">
                    <a:lumMod val="50000"/>
                  </a:schemeClr>
                </a:solidFill>
                <a:latin typeface="+mn-lt"/>
                <a:hlinkClick r:id="rId4"/>
              </a:rPr>
              <a:t>contact.us@itcinfotech.com</a:t>
            </a:r>
            <a:endParaRPr lang="en-US" sz="2000" u="sng" dirty="0" smtClean="0">
              <a:solidFill>
                <a:schemeClr val="bg1">
                  <a:lumMod val="50000"/>
                </a:schemeClr>
              </a:solidFill>
              <a:latin typeface="+mn-lt"/>
            </a:endParaRPr>
          </a:p>
          <a:p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Web: </a:t>
            </a:r>
            <a:r>
              <a:rPr lang="en-US" sz="2000" u="sng" dirty="0" smtClean="0">
                <a:solidFill>
                  <a:schemeClr val="bg1">
                    <a:lumMod val="50000"/>
                  </a:schemeClr>
                </a:solidFill>
                <a:latin typeface="+mn-lt"/>
                <a:hlinkClick r:id="rId5"/>
              </a:rPr>
              <a:t>www.itcinfotech.com</a:t>
            </a:r>
            <a:endParaRPr lang="en-US" sz="2000" u="sng" dirty="0" smtClean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1390" y="5219940"/>
            <a:ext cx="3587206" cy="388885"/>
          </a:xfrm>
          <a:prstGeom prst="rect">
            <a:avLst/>
          </a:prstGeom>
        </p:spPr>
      </p:pic>
      <p:grpSp>
        <p:nvGrpSpPr>
          <p:cNvPr id="29" name="Group 28"/>
          <p:cNvGrpSpPr/>
          <p:nvPr userDrawn="1"/>
        </p:nvGrpSpPr>
        <p:grpSpPr>
          <a:xfrm flipH="1">
            <a:off x="5539950" y="5457243"/>
            <a:ext cx="595380" cy="474022"/>
            <a:chOff x="5834917" y="5619476"/>
            <a:chExt cx="595380" cy="474022"/>
          </a:xfrm>
        </p:grpSpPr>
        <p:sp>
          <p:nvSpPr>
            <p:cNvPr id="30" name="Rectangle 29"/>
            <p:cNvSpPr/>
            <p:nvPr/>
          </p:nvSpPr>
          <p:spPr>
            <a:xfrm>
              <a:off x="5834917" y="5619476"/>
              <a:ext cx="270915" cy="238048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159382" y="5855450"/>
              <a:ext cx="270915" cy="238048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>
                <a:solidFill>
                  <a:schemeClr val="tx1"/>
                </a:solidFill>
                <a:latin typeface="+mn-lt"/>
              </a:endParaRPr>
            </a:p>
          </p:txBody>
        </p:sp>
      </p:grpSp>
      <p:grpSp>
        <p:nvGrpSpPr>
          <p:cNvPr id="32" name="Group 31"/>
          <p:cNvGrpSpPr/>
          <p:nvPr userDrawn="1"/>
        </p:nvGrpSpPr>
        <p:grpSpPr>
          <a:xfrm>
            <a:off x="265113" y="664044"/>
            <a:ext cx="979136" cy="898920"/>
            <a:chOff x="10972801" y="86711"/>
            <a:chExt cx="979136" cy="898920"/>
          </a:xfrm>
        </p:grpSpPr>
        <p:sp>
          <p:nvSpPr>
            <p:cNvPr id="33" name="Rectangle 32"/>
            <p:cNvSpPr/>
            <p:nvPr/>
          </p:nvSpPr>
          <p:spPr>
            <a:xfrm>
              <a:off x="11481621" y="86711"/>
              <a:ext cx="470316" cy="42078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 err="1" smtClean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972801" y="564845"/>
              <a:ext cx="469097" cy="4207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 smtClean="0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35" name="TextBox 34"/>
          <p:cNvSpPr txBox="1"/>
          <p:nvPr userDrawn="1"/>
        </p:nvSpPr>
        <p:spPr bwMode="gray">
          <a:xfrm>
            <a:off x="861390" y="6101565"/>
            <a:ext cx="289848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1400">
                <a:solidFill>
                  <a:schemeClr val="accent6">
                    <a:lumMod val="10000"/>
                  </a:schemeClr>
                </a:solidFill>
                <a:latin typeface="Futura Lt BT" panose="020B0402020204020303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+mn-lt"/>
              </a:rPr>
              <a:t>©</a:t>
            </a:r>
            <a:r>
              <a:rPr lang="en-US" dirty="0" smtClean="0">
                <a:solidFill>
                  <a:schemeClr val="tx1"/>
                </a:solidFill>
                <a:latin typeface="+mn-lt"/>
              </a:rPr>
              <a:t>2018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ITC Infotech. All Rights Reserved.</a:t>
            </a:r>
          </a:p>
        </p:txBody>
      </p:sp>
      <p:sp>
        <p:nvSpPr>
          <p:cNvPr id="36" name="Text Box 3"/>
          <p:cNvSpPr txBox="1">
            <a:spLocks noChangeArrowheads="1"/>
          </p:cNvSpPr>
          <p:nvPr userDrawn="1"/>
        </p:nvSpPr>
        <p:spPr bwMode="gray">
          <a:xfrm>
            <a:off x="861390" y="6328660"/>
            <a:ext cx="70532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All trademarks are the registered property of the respective companies and are acknowledged</a:t>
            </a:r>
            <a:r>
              <a:rPr lang="en-US" sz="1400" dirty="0" smtClean="0">
                <a:latin typeface="+mn-lt"/>
                <a:cs typeface="Times New Roman" panose="02020603050405020304" pitchFamily="18" charset="0"/>
              </a:rPr>
              <a:t>.</a:t>
            </a:r>
            <a:endParaRPr lang="en-GB" sz="14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7" name="Oval 36">
            <a:hlinkClick r:id="rId7"/>
          </p:cNvPr>
          <p:cNvSpPr/>
          <p:nvPr userDrawn="1"/>
        </p:nvSpPr>
        <p:spPr>
          <a:xfrm>
            <a:off x="2650021" y="5345904"/>
            <a:ext cx="138423" cy="138423"/>
          </a:xfrm>
          <a:prstGeom prst="ellipse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8" name="Oval 37">
            <a:hlinkClick r:id="rId8"/>
          </p:cNvPr>
          <p:cNvSpPr/>
          <p:nvPr userDrawn="1"/>
        </p:nvSpPr>
        <p:spPr>
          <a:xfrm>
            <a:off x="3034593" y="5345904"/>
            <a:ext cx="138423" cy="138423"/>
          </a:xfrm>
          <a:prstGeom prst="ellipse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9" name="Oval 38">
            <a:hlinkClick r:id="rId9"/>
          </p:cNvPr>
          <p:cNvSpPr/>
          <p:nvPr userDrawn="1"/>
        </p:nvSpPr>
        <p:spPr>
          <a:xfrm>
            <a:off x="3419165" y="5345904"/>
            <a:ext cx="138423" cy="138423"/>
          </a:xfrm>
          <a:prstGeom prst="ellipse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0" name="Oval 39">
            <a:hlinkClick r:id="rId10"/>
          </p:cNvPr>
          <p:cNvSpPr/>
          <p:nvPr userDrawn="1"/>
        </p:nvSpPr>
        <p:spPr>
          <a:xfrm>
            <a:off x="3803737" y="5345904"/>
            <a:ext cx="138423" cy="138423"/>
          </a:xfrm>
          <a:prstGeom prst="ellipse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1" name="Oval 40">
            <a:hlinkClick r:id="rId11"/>
          </p:cNvPr>
          <p:cNvSpPr/>
          <p:nvPr userDrawn="1"/>
        </p:nvSpPr>
        <p:spPr>
          <a:xfrm>
            <a:off x="4188309" y="5345904"/>
            <a:ext cx="138423" cy="138423"/>
          </a:xfrm>
          <a:prstGeom prst="ellipse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" name="Title 1">
            <a:hlinkClick r:id="rId12"/>
          </p:cNvPr>
          <p:cNvSpPr txBox="1">
            <a:spLocks/>
          </p:cNvSpPr>
          <p:nvPr userDrawn="1"/>
        </p:nvSpPr>
        <p:spPr bwMode="gray">
          <a:xfrm>
            <a:off x="1797207" y="3608094"/>
            <a:ext cx="3000117" cy="4308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Arial" pitchFamily="34" charset="0"/>
              </a:defRPr>
            </a:lvl1pPr>
          </a:lstStyle>
          <a:p>
            <a:pPr algn="ctr"/>
            <a:r>
              <a:rPr lang="en-US" dirty="0" smtClean="0">
                <a:solidFill>
                  <a:schemeClr val="bg1"/>
                </a:solidFill>
                <a:effectLst/>
                <a:latin typeface="+mj-lt"/>
              </a:rPr>
              <a:t>Digitaligence@work</a:t>
            </a:r>
            <a:endParaRPr lang="en-US" dirty="0">
              <a:solidFill>
                <a:schemeClr val="bg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211034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863" y="295117"/>
            <a:ext cx="11576580" cy="43088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smtClean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863" y="952501"/>
            <a:ext cx="11579384" cy="16927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720" y="6627068"/>
            <a:ext cx="2192908" cy="153888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smtClean="0"/>
              <a:t>©2018 ITC Infotech. All Rights Reserved.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919640" y="6627068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b">
            <a:spAutoFit/>
          </a:bodyPr>
          <a:lstStyle>
            <a:lvl1pPr algn="r">
              <a:defRPr sz="1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fld id="{53CF2EA8-35F1-4A35-9763-13466C1417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418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effectLst/>
          <a:latin typeface="+mj-lt"/>
          <a:ea typeface="+mj-ea"/>
          <a:cs typeface="Arial" pitchFamily="34" charset="0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252000" indent="-252000" algn="l" defTabSz="914400" rtl="0" eaLnBrk="1" latinLnBrk="0" hangingPunct="1">
        <a:spcBef>
          <a:spcPts val="600"/>
        </a:spcBef>
        <a:buFont typeface="Wingdings 2" pitchFamily="18" charset="2"/>
        <a:buChar char="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504000" indent="-252000" algn="l" defTabSz="914400" rtl="0" eaLnBrk="1" latinLnBrk="0" hangingPunct="1"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756000" indent="-252000" algn="l" defTabSz="914400" rtl="0" eaLnBrk="1" latinLnBrk="0" hangingPunct="1">
        <a:spcBef>
          <a:spcPts val="600"/>
        </a:spcBef>
        <a:buFont typeface="Wingdings 2" pitchFamily="18" charset="2"/>
        <a:buChar char="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008000" indent="-252000" algn="l" defTabSz="914400" rtl="0" eaLnBrk="1" latinLnBrk="0" hangingPunct="1">
        <a:spcBef>
          <a:spcPts val="600"/>
        </a:spcBef>
        <a:buFont typeface="Arial" pitchFamily="34" charset="0"/>
        <a:buChar char="˗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" Type="http://schemas.openxmlformats.org/officeDocument/2006/relationships/image" Target="../media/image9.tiff"/><Relationship Id="rId21" Type="http://schemas.openxmlformats.org/officeDocument/2006/relationships/image" Target="../media/image26.png"/><Relationship Id="rId7" Type="http://schemas.openxmlformats.org/officeDocument/2006/relationships/image" Target="../media/image13.png"/><Relationship Id="rId12" Type="http://schemas.microsoft.com/office/2007/relationships/hdphoto" Target="../media/hdphoto1.wdp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2" Type="http://schemas.openxmlformats.org/officeDocument/2006/relationships/image" Target="../media/image8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29.png"/><Relationship Id="rId5" Type="http://schemas.openxmlformats.org/officeDocument/2006/relationships/image" Target="../media/image11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/>
          <p:cNvSpPr txBox="1">
            <a:spLocks/>
          </p:cNvSpPr>
          <p:nvPr/>
        </p:nvSpPr>
        <p:spPr>
          <a:xfrm>
            <a:off x="0" y="-281463"/>
            <a:ext cx="12188825" cy="5539978"/>
          </a:xfrm>
          <a:prstGeom prst="rect">
            <a:avLst/>
          </a:prstGeom>
          <a:solidFill>
            <a:srgbClr val="FFFFFF">
              <a:alpha val="25882"/>
            </a:srgbClr>
          </a:solidFill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400" b="1" dirty="0" smtClean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l"/>
            <a:endParaRPr lang="en-US" sz="24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l"/>
            <a:endParaRPr lang="en-US" sz="2400" b="1" dirty="0" smtClean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l"/>
            <a:endParaRPr lang="en-US" sz="24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l"/>
            <a:endParaRPr lang="en-US" sz="2400" b="1" dirty="0" smtClean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l"/>
            <a:endParaRPr lang="en-US" sz="24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l"/>
            <a:endParaRPr lang="en-US" sz="2400" b="1" dirty="0" smtClean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l"/>
            <a:endParaRPr lang="en-US" sz="24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l"/>
            <a:endParaRPr lang="en-US" sz="2400" b="1" dirty="0" smtClean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l"/>
            <a:endParaRPr lang="en-US" sz="24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l"/>
            <a:endParaRPr lang="en-US" sz="2400" b="1" dirty="0" smtClean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l"/>
            <a:endParaRPr lang="en-US" sz="24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l"/>
            <a:endParaRPr lang="en-US" sz="2400" b="1" dirty="0" smtClean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l"/>
            <a:endParaRPr lang="en-US" sz="24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algn="l"/>
            <a:endParaRPr lang="en-US" sz="2400" b="1" dirty="0" smtClean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©2018 ITC Infotech. All Rights Reserved.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12" name="Title 2"/>
          <p:cNvSpPr>
            <a:spLocks noGrp="1"/>
          </p:cNvSpPr>
          <p:nvPr>
            <p:ph type="ctrTitle"/>
          </p:nvPr>
        </p:nvSpPr>
        <p:spPr>
          <a:xfrm>
            <a:off x="372824" y="2229603"/>
            <a:ext cx="9412860" cy="738664"/>
          </a:xfrm>
        </p:spPr>
        <p:txBody>
          <a:bodyPr anchor="t"/>
          <a:lstStyle/>
          <a:p>
            <a:pPr algn="l"/>
            <a:r>
              <a:rPr lang="en-US" sz="3200" dirty="0" smtClean="0"/>
              <a:t>ITC Infotech Testing Capabilities </a:t>
            </a:r>
            <a:br>
              <a:rPr lang="en-US" sz="3200" dirty="0" smtClean="0"/>
            </a:br>
            <a:endParaRPr lang="en-US" sz="1600" i="1" dirty="0">
              <a:latin typeface="+mn-lt"/>
            </a:endParaRPr>
          </a:p>
        </p:txBody>
      </p:sp>
      <p:pic>
        <p:nvPicPr>
          <p:cNvPr id="10" name="Picture 9" descr="ITC Infotech_logo"/>
          <p:cNvPicPr>
            <a:picLocks noChangeAspect="1" noChangeArrowheads="1"/>
          </p:cNvPicPr>
          <p:nvPr/>
        </p:nvPicPr>
        <p:blipFill>
          <a:blip r:embed="rId3" cstate="email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9785684" y="5507705"/>
            <a:ext cx="2064563" cy="111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054" y="5613440"/>
            <a:ext cx="2099078" cy="68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33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248" y="384976"/>
            <a:ext cx="10427617" cy="492443"/>
          </a:xfrm>
        </p:spPr>
        <p:txBody>
          <a:bodyPr/>
          <a:lstStyle/>
          <a:p>
            <a:r>
              <a:rPr lang="en-US" dirty="0" err="1" smtClean="0"/>
              <a:t>TestNext</a:t>
            </a:r>
            <a:r>
              <a:rPr lang="en-US" dirty="0" smtClean="0"/>
              <a:t> Automata</a:t>
            </a:r>
            <a:r>
              <a:rPr lang="en-US" sz="2800" dirty="0" smtClean="0"/>
              <a:t>– An ecosystem for automated Test Life cycle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©2018 ITC Infotech. All Rights Reserved.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04720" y="1130300"/>
            <a:ext cx="5435680" cy="2565400"/>
          </a:xfrm>
          <a:prstGeom prst="rect">
            <a:avLst/>
          </a:prstGeom>
          <a:solidFill>
            <a:srgbClr val="EEDFF5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42000" y="1130300"/>
            <a:ext cx="5435680" cy="2565400"/>
          </a:xfrm>
          <a:prstGeom prst="rect">
            <a:avLst/>
          </a:prstGeom>
          <a:solidFill>
            <a:srgbClr val="EEF4BE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720" y="3810000"/>
            <a:ext cx="5435680" cy="2565400"/>
          </a:xfrm>
          <a:prstGeom prst="rect">
            <a:avLst/>
          </a:prstGeom>
          <a:solidFill>
            <a:srgbClr val="FFD1D1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42000" y="3747652"/>
            <a:ext cx="5435680" cy="2565400"/>
          </a:xfrm>
          <a:prstGeom prst="rect">
            <a:avLst/>
          </a:prstGeom>
          <a:solidFill>
            <a:srgbClr val="D9ECFF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04720" y="1130300"/>
            <a:ext cx="2908300" cy="4064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1. Test Pack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0700" y="1130300"/>
            <a:ext cx="3136980" cy="4064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2. Test Execution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40700" y="3810000"/>
            <a:ext cx="3136980" cy="406400"/>
          </a:xfrm>
          <a:prstGeom prst="roundRect">
            <a:avLst/>
          </a:prstGeom>
          <a:solidFill>
            <a:srgbClr val="75BAFF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3. Defect Management &amp; Reporting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4720" y="3810000"/>
            <a:ext cx="2908300" cy="406400"/>
          </a:xfrm>
          <a:prstGeom prst="roundRect">
            <a:avLst/>
          </a:prstGeom>
          <a:solidFill>
            <a:srgbClr val="FFA7A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4.Test Pack Maintenance</a:t>
            </a:r>
            <a:endParaRPr lang="en-US" sz="1600" b="1" dirty="0">
              <a:solidFill>
                <a:schemeClr val="bg1"/>
              </a:solidFill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4695943" y="2856218"/>
            <a:ext cx="2715069" cy="2720051"/>
            <a:chOff x="4716152" y="3083102"/>
            <a:chExt cx="2715069" cy="2720051"/>
          </a:xfrm>
        </p:grpSpPr>
        <p:grpSp>
          <p:nvGrpSpPr>
            <p:cNvPr id="15" name="Gruppieren 25">
              <a:extLst>
                <a:ext uri="{FF2B5EF4-FFF2-40B4-BE49-F238E27FC236}">
                  <a16:creationId xmlns:a16="http://schemas.microsoft.com/office/drawing/2014/main" id="{1586699D-71D5-6040-BDE3-9F82E0814638}"/>
                </a:ext>
              </a:extLst>
            </p:cNvPr>
            <p:cNvGrpSpPr/>
            <p:nvPr/>
          </p:nvGrpSpPr>
          <p:grpSpPr bwMode="gray">
            <a:xfrm>
              <a:off x="4716152" y="3083102"/>
              <a:ext cx="2715069" cy="2720051"/>
              <a:chOff x="3209926" y="2038338"/>
              <a:chExt cx="3505959" cy="3505277"/>
            </a:xfrm>
          </p:grpSpPr>
          <p:sp>
            <p:nvSpPr>
              <p:cNvPr id="16" name="Ellipse 5">
                <a:extLst>
                  <a:ext uri="{FF2B5EF4-FFF2-40B4-BE49-F238E27FC236}">
                    <a16:creationId xmlns:a16="http://schemas.microsoft.com/office/drawing/2014/main" id="{15736CBB-ED23-BB4B-8A31-F49652D33B90}"/>
                  </a:ext>
                </a:extLst>
              </p:cNvPr>
              <p:cNvSpPr/>
              <p:nvPr/>
            </p:nvSpPr>
            <p:spPr bwMode="gray">
              <a:xfrm>
                <a:off x="3209926" y="2038338"/>
                <a:ext cx="3505959" cy="3505277"/>
              </a:xfrm>
              <a:custGeom>
                <a:avLst/>
                <a:gdLst/>
                <a:ahLst/>
                <a:cxnLst/>
                <a:rect l="l" t="t" r="r" b="b"/>
                <a:pathLst>
                  <a:path w="3486150" h="3485241">
                    <a:moveTo>
                      <a:pt x="2427828" y="2750838"/>
                    </a:moveTo>
                    <a:lnTo>
                      <a:pt x="2735447" y="3174240"/>
                    </a:lnTo>
                    <a:cubicBezTo>
                      <a:pt x="2454234" y="3370602"/>
                      <a:pt x="2112042" y="3485241"/>
                      <a:pt x="1743075" y="3485241"/>
                    </a:cubicBezTo>
                    <a:cubicBezTo>
                      <a:pt x="1382619" y="3485241"/>
                      <a:pt x="1047718" y="3375830"/>
                      <a:pt x="769811" y="3188345"/>
                    </a:cubicBezTo>
                    <a:lnTo>
                      <a:pt x="1078470" y="2763511"/>
                    </a:lnTo>
                    <a:cubicBezTo>
                      <a:pt x="1269293" y="2888891"/>
                      <a:pt x="1497720" y="2961366"/>
                      <a:pt x="1743075" y="2961366"/>
                    </a:cubicBezTo>
                    <a:cubicBezTo>
                      <a:pt x="1996960" y="2961366"/>
                      <a:pt x="2232720" y="2883764"/>
                      <a:pt x="2427828" y="2750838"/>
                    </a:cubicBezTo>
                    <a:close/>
                    <a:moveTo>
                      <a:pt x="1761075" y="0"/>
                    </a:moveTo>
                    <a:cubicBezTo>
                      <a:pt x="2715463" y="8842"/>
                      <a:pt x="3486150" y="785502"/>
                      <a:pt x="3486150" y="1742166"/>
                    </a:cubicBezTo>
                    <a:cubicBezTo>
                      <a:pt x="3486150" y="2322952"/>
                      <a:pt x="3202102" y="2837395"/>
                      <a:pt x="2764280" y="3152678"/>
                    </a:cubicBezTo>
                    <a:lnTo>
                      <a:pt x="2456661" y="2729277"/>
                    </a:lnTo>
                    <a:cubicBezTo>
                      <a:pt x="2763290" y="2508784"/>
                      <a:pt x="2962275" y="2148713"/>
                      <a:pt x="2962275" y="1742166"/>
                    </a:cubicBezTo>
                    <a:cubicBezTo>
                      <a:pt x="2962275" y="1621569"/>
                      <a:pt x="2944766" y="1505062"/>
                      <a:pt x="2911604" y="1395215"/>
                    </a:cubicBezTo>
                    <a:lnTo>
                      <a:pt x="3406400" y="1234446"/>
                    </a:lnTo>
                    <a:lnTo>
                      <a:pt x="3395275" y="1200208"/>
                    </a:lnTo>
                    <a:lnTo>
                      <a:pt x="2900535" y="1360959"/>
                    </a:lnTo>
                    <a:cubicBezTo>
                      <a:pt x="2743044" y="879619"/>
                      <a:pt x="2293345" y="530960"/>
                      <a:pt x="1761075" y="523875"/>
                    </a:cubicBezTo>
                    <a:close/>
                    <a:moveTo>
                      <a:pt x="1725075" y="0"/>
                    </a:moveTo>
                    <a:lnTo>
                      <a:pt x="1725075" y="523875"/>
                    </a:lnTo>
                    <a:cubicBezTo>
                      <a:pt x="1192806" y="530960"/>
                      <a:pt x="743108" y="879618"/>
                      <a:pt x="585616" y="1360957"/>
                    </a:cubicBezTo>
                    <a:lnTo>
                      <a:pt x="90875" y="1200205"/>
                    </a:lnTo>
                    <a:lnTo>
                      <a:pt x="79751" y="1234443"/>
                    </a:lnTo>
                    <a:lnTo>
                      <a:pt x="574547" y="1395212"/>
                    </a:lnTo>
                    <a:cubicBezTo>
                      <a:pt x="541385" y="1505061"/>
                      <a:pt x="523875" y="1621569"/>
                      <a:pt x="523875" y="1742166"/>
                    </a:cubicBezTo>
                    <a:cubicBezTo>
                      <a:pt x="523875" y="2157237"/>
                      <a:pt x="731292" y="2523862"/>
                      <a:pt x="1048510" y="2743501"/>
                    </a:cubicBezTo>
                    <a:lnTo>
                      <a:pt x="740891" y="3166902"/>
                    </a:lnTo>
                    <a:cubicBezTo>
                      <a:pt x="292449" y="2852486"/>
                      <a:pt x="0" y="2331479"/>
                      <a:pt x="0" y="1742166"/>
                    </a:cubicBezTo>
                    <a:cubicBezTo>
                      <a:pt x="0" y="785502"/>
                      <a:pt x="770688" y="8842"/>
                      <a:pt x="1725075" y="0"/>
                    </a:cubicBezTo>
                    <a:close/>
                  </a:path>
                </a:pathLst>
              </a:custGeom>
              <a:solidFill>
                <a:srgbClr val="F8C934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89977" tIns="46788" rIns="89977" bIns="4678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 dirty="0" err="1">
                  <a:solidFill>
                    <a:srgbClr val="000000"/>
                  </a:solidFill>
                  <a:latin typeface="Calibri"/>
                  <a:cs typeface="Arial" panose="020B0604020202020204" pitchFamily="34" charset="0"/>
                </a:endParaRPr>
              </a:p>
            </p:txBody>
          </p:sp>
          <p:sp>
            <p:nvSpPr>
              <p:cNvPr id="17" name="Ellipse 5">
                <a:extLst>
                  <a:ext uri="{FF2B5EF4-FFF2-40B4-BE49-F238E27FC236}">
                    <a16:creationId xmlns:a16="http://schemas.microsoft.com/office/drawing/2014/main" id="{5A170498-9C59-7B4A-AB62-8243FEAA2B81}"/>
                  </a:ext>
                </a:extLst>
              </p:cNvPr>
              <p:cNvSpPr/>
              <p:nvPr/>
            </p:nvSpPr>
            <p:spPr bwMode="gray">
              <a:xfrm>
                <a:off x="3781427" y="2609383"/>
                <a:ext cx="2343150" cy="2343150"/>
              </a:xfrm>
              <a:custGeom>
                <a:avLst/>
                <a:gdLst/>
                <a:ahLst/>
                <a:cxnLst/>
                <a:rect l="l" t="t" r="r" b="b"/>
                <a:pathLst>
                  <a:path w="2343150" h="2343150">
                    <a:moveTo>
                      <a:pt x="0" y="1171576"/>
                    </a:moveTo>
                    <a:lnTo>
                      <a:pt x="352113" y="1171576"/>
                    </a:lnTo>
                    <a:cubicBezTo>
                      <a:pt x="352113" y="1624152"/>
                      <a:pt x="718998" y="1991037"/>
                      <a:pt x="1171575" y="1991037"/>
                    </a:cubicBezTo>
                    <a:cubicBezTo>
                      <a:pt x="1624152" y="1991037"/>
                      <a:pt x="1991037" y="1624152"/>
                      <a:pt x="1991037" y="1171576"/>
                    </a:cubicBezTo>
                    <a:lnTo>
                      <a:pt x="2343150" y="1171576"/>
                    </a:lnTo>
                    <a:cubicBezTo>
                      <a:pt x="2343150" y="1818618"/>
                      <a:pt x="1818618" y="2343150"/>
                      <a:pt x="1171575" y="2343150"/>
                    </a:cubicBezTo>
                    <a:cubicBezTo>
                      <a:pt x="524532" y="2343150"/>
                      <a:pt x="0" y="1818618"/>
                      <a:pt x="0" y="1171576"/>
                    </a:cubicBezTo>
                    <a:close/>
                    <a:moveTo>
                      <a:pt x="1171575" y="0"/>
                    </a:moveTo>
                    <a:cubicBezTo>
                      <a:pt x="1806562" y="0"/>
                      <a:pt x="2323561" y="505167"/>
                      <a:pt x="2341332" y="1135576"/>
                    </a:cubicBezTo>
                    <a:lnTo>
                      <a:pt x="1989219" y="1135576"/>
                    </a:lnTo>
                    <a:cubicBezTo>
                      <a:pt x="1971395" y="699678"/>
                      <a:pt x="1612075" y="352113"/>
                      <a:pt x="1171575" y="352113"/>
                    </a:cubicBezTo>
                    <a:cubicBezTo>
                      <a:pt x="731076" y="352113"/>
                      <a:pt x="371756" y="699678"/>
                      <a:pt x="353931" y="1135576"/>
                    </a:cubicBezTo>
                    <a:lnTo>
                      <a:pt x="1818" y="1135576"/>
                    </a:lnTo>
                    <a:cubicBezTo>
                      <a:pt x="19589" y="505167"/>
                      <a:pt x="536588" y="0"/>
                      <a:pt x="1171575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89977" tIns="46788" rIns="89977" bIns="4678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kern="0" dirty="0" err="1">
                  <a:solidFill>
                    <a:srgbClr val="000000"/>
                  </a:solidFill>
                  <a:latin typeface="Calibri"/>
                  <a:cs typeface="Arial" panose="020B0604020202020204" pitchFamily="34" charset="0"/>
                </a:endParaRPr>
              </a:p>
            </p:txBody>
          </p:sp>
          <p:sp>
            <p:nvSpPr>
              <p:cNvPr id="18" name="Ellipse 28">
                <a:extLst>
                  <a:ext uri="{FF2B5EF4-FFF2-40B4-BE49-F238E27FC236}">
                    <a16:creationId xmlns:a16="http://schemas.microsoft.com/office/drawing/2014/main" id="{77FC2BED-ABF9-5A42-AE4B-673872CDCDF0}"/>
                  </a:ext>
                </a:extLst>
              </p:cNvPr>
              <p:cNvSpPr/>
              <p:nvPr/>
            </p:nvSpPr>
            <p:spPr bwMode="gray">
              <a:xfrm>
                <a:off x="4186239" y="3014195"/>
                <a:ext cx="1533527" cy="1533526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none" lIns="89977" tIns="46788" rIns="89977" bIns="4678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kern="0" cap="all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cs typeface="Arial" panose="020B0604020202020204" pitchFamily="34" charset="0"/>
                </a:endParaRPr>
              </a:p>
            </p:txBody>
          </p:sp>
          <p:sp>
            <p:nvSpPr>
              <p:cNvPr id="19" name="Textfeld 29">
                <a:extLst>
                  <a:ext uri="{FF2B5EF4-FFF2-40B4-BE49-F238E27FC236}">
                    <a16:creationId xmlns:a16="http://schemas.microsoft.com/office/drawing/2014/main" id="{792E2B91-BF92-F946-9F9B-4F2BCC83B5B1}"/>
                  </a:ext>
                </a:extLst>
              </p:cNvPr>
              <p:cNvSpPr txBox="1"/>
              <p:nvPr/>
            </p:nvSpPr>
            <p:spPr bwMode="gray">
              <a:xfrm rot="16200000">
                <a:off x="3963001" y="2810708"/>
                <a:ext cx="1980000" cy="1980000"/>
              </a:xfrm>
              <a:prstGeom prst="rect">
                <a:avLst/>
              </a:prstGeom>
            </p:spPr>
            <p:txBody>
              <a:bodyPr spcFirstLastPara="1" vert="horz" wrap="none" lIns="0" tIns="0" rIns="0" bIns="0" numCol="1" rtlCol="0">
                <a:prstTxWarp prst="textCircle">
                  <a:avLst/>
                </a:prstTxWarp>
                <a:no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 kern="0" noProof="1">
                    <a:solidFill>
                      <a:prstClr val="white"/>
                    </a:solidFill>
                    <a:latin typeface="Calibri"/>
                    <a:cs typeface="Arial" panose="020B0604020202020204" pitchFamily="34" charset="0"/>
                  </a:rPr>
                  <a:t>Continuous </a:t>
                </a:r>
                <a:r>
                  <a:rPr lang="en-US" sz="1400" kern="0" noProof="1" smtClean="0">
                    <a:solidFill>
                      <a:prstClr val="white"/>
                    </a:solidFill>
                    <a:latin typeface="Calibri"/>
                    <a:cs typeface="Arial" panose="020B0604020202020204" pitchFamily="34" charset="0"/>
                  </a:rPr>
                  <a:t>Delivery</a:t>
                </a:r>
                <a:endParaRPr lang="en-US" sz="1400" kern="0" noProof="1">
                  <a:solidFill>
                    <a:prstClr val="white"/>
                  </a:solidFill>
                  <a:latin typeface="Calibri"/>
                  <a:cs typeface="Arial" panose="020B0604020202020204" pitchFamily="34" charset="0"/>
                </a:endParaRPr>
              </a:p>
            </p:txBody>
          </p:sp>
          <p:sp>
            <p:nvSpPr>
              <p:cNvPr id="20" name="Textfeld 30">
                <a:extLst>
                  <a:ext uri="{FF2B5EF4-FFF2-40B4-BE49-F238E27FC236}">
                    <a16:creationId xmlns:a16="http://schemas.microsoft.com/office/drawing/2014/main" id="{3FB46007-EA98-CA4D-9222-77A17FE2088B}"/>
                  </a:ext>
                </a:extLst>
              </p:cNvPr>
              <p:cNvSpPr txBox="1"/>
              <p:nvPr/>
            </p:nvSpPr>
            <p:spPr bwMode="gray">
              <a:xfrm rot="14309091">
                <a:off x="3517457" y="2345414"/>
                <a:ext cx="2871090" cy="2871091"/>
              </a:xfrm>
              <a:prstGeom prst="rect">
                <a:avLst/>
              </a:prstGeom>
            </p:spPr>
            <p:txBody>
              <a:bodyPr spcFirstLastPara="1" vert="horz" wrap="none" lIns="0" tIns="0" rIns="0" bIns="0" numCol="1" rtlCol="0">
                <a:prstTxWarp prst="textCircle">
                  <a:avLst>
                    <a:gd name="adj" fmla="val 11067927"/>
                  </a:avLst>
                </a:prstTxWarp>
                <a:no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 kern="0" noProof="1" smtClean="0">
                    <a:solidFill>
                      <a:prstClr val="white"/>
                    </a:solidFill>
                    <a:latin typeface="Calibri"/>
                    <a:cs typeface="Arial" panose="020B0604020202020204" pitchFamily="34" charset="0"/>
                  </a:rPr>
                  <a:t>Test Management</a:t>
                </a:r>
                <a:endParaRPr lang="en-US" sz="1400" kern="0" noProof="1">
                  <a:solidFill>
                    <a:prstClr val="white"/>
                  </a:solidFill>
                  <a:latin typeface="Calibri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feld 31">
                <a:extLst>
                  <a:ext uri="{FF2B5EF4-FFF2-40B4-BE49-F238E27FC236}">
                    <a16:creationId xmlns:a16="http://schemas.microsoft.com/office/drawing/2014/main" id="{08280047-0624-A747-88C1-2E5D1AE2053C}"/>
                  </a:ext>
                </a:extLst>
              </p:cNvPr>
              <p:cNvSpPr txBox="1"/>
              <p:nvPr/>
            </p:nvSpPr>
            <p:spPr bwMode="gray">
              <a:xfrm rot="18400706">
                <a:off x="3517457" y="2345413"/>
                <a:ext cx="2871090" cy="2871091"/>
              </a:xfrm>
              <a:prstGeom prst="rect">
                <a:avLst/>
              </a:prstGeom>
            </p:spPr>
            <p:txBody>
              <a:bodyPr spcFirstLastPara="1" vert="horz" wrap="none" lIns="0" tIns="0" rIns="0" bIns="0" numCol="1" rtlCol="0">
                <a:prstTxWarp prst="textCircle">
                  <a:avLst>
                    <a:gd name="adj" fmla="val 11067927"/>
                  </a:avLst>
                </a:prstTxWarp>
                <a:no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 kern="0" noProof="1" smtClean="0">
                    <a:solidFill>
                      <a:prstClr val="white"/>
                    </a:solidFill>
                    <a:latin typeface="Calibri"/>
                    <a:cs typeface="Arial" panose="020B0604020202020204" pitchFamily="34" charset="0"/>
                  </a:rPr>
                  <a:t>Governance</a:t>
                </a:r>
                <a:endParaRPr lang="en-US" sz="1400" kern="0" noProof="1">
                  <a:solidFill>
                    <a:prstClr val="white"/>
                  </a:solidFill>
                  <a:latin typeface="Calibri"/>
                  <a:cs typeface="Arial" panose="020B0604020202020204" pitchFamily="34" charset="0"/>
                </a:endParaRPr>
              </a:p>
            </p:txBody>
          </p:sp>
          <p:sp>
            <p:nvSpPr>
              <p:cNvPr id="22" name="Textfeld 32">
                <a:extLst>
                  <a:ext uri="{FF2B5EF4-FFF2-40B4-BE49-F238E27FC236}">
                    <a16:creationId xmlns:a16="http://schemas.microsoft.com/office/drawing/2014/main" id="{A89F9ED5-E72E-5B49-B19C-90191943B5B2}"/>
                  </a:ext>
                </a:extLst>
              </p:cNvPr>
              <p:cNvSpPr txBox="1"/>
              <p:nvPr/>
            </p:nvSpPr>
            <p:spPr bwMode="gray">
              <a:xfrm rot="17115616">
                <a:off x="3517457" y="2345413"/>
                <a:ext cx="2871090" cy="2871091"/>
              </a:xfrm>
              <a:prstGeom prst="rect">
                <a:avLst/>
              </a:prstGeom>
            </p:spPr>
            <p:txBody>
              <a:bodyPr spcFirstLastPara="1" vert="horz" wrap="none" lIns="0" tIns="0" rIns="0" bIns="0" numCol="1" rtlCol="0">
                <a:prstTxWarp prst="textArchDown">
                  <a:avLst/>
                </a:prstTxWarp>
                <a:no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 kern="0" noProof="1" smtClean="0">
                    <a:solidFill>
                      <a:prstClr val="white"/>
                    </a:solidFill>
                    <a:latin typeface="Calibri"/>
                    <a:cs typeface="Arial" panose="020B0604020202020204" pitchFamily="34" charset="0"/>
                  </a:rPr>
                  <a:t>Best Practises</a:t>
                </a:r>
                <a:endParaRPr lang="en-US" sz="1400" kern="0" noProof="1">
                  <a:solidFill>
                    <a:prstClr val="white"/>
                  </a:solidFill>
                  <a:latin typeface="Calibri"/>
                  <a:cs typeface="Arial" panose="020B0604020202020204" pitchFamily="34" charset="0"/>
                </a:endParaRPr>
              </a:p>
            </p:txBody>
          </p:sp>
          <p:sp>
            <p:nvSpPr>
              <p:cNvPr id="23" name="Textfeld 33">
                <a:extLst>
                  <a:ext uri="{FF2B5EF4-FFF2-40B4-BE49-F238E27FC236}">
                    <a16:creationId xmlns:a16="http://schemas.microsoft.com/office/drawing/2014/main" id="{B37CDDBB-2789-7C4C-8681-5675CDBFF66B}"/>
                  </a:ext>
                </a:extLst>
              </p:cNvPr>
              <p:cNvSpPr txBox="1"/>
              <p:nvPr/>
            </p:nvSpPr>
            <p:spPr bwMode="gray">
              <a:xfrm>
                <a:off x="3517457" y="2394786"/>
                <a:ext cx="2871091" cy="2871090"/>
              </a:xfrm>
              <a:prstGeom prst="rect">
                <a:avLst/>
              </a:prstGeom>
            </p:spPr>
            <p:txBody>
              <a:bodyPr spcFirstLastPara="1" vert="horz" wrap="none" lIns="0" tIns="0" rIns="0" bIns="0" numCol="1" rtlCol="0">
                <a:prstTxWarp prst="textArchDown">
                  <a:avLst/>
                </a:prstTxWarp>
                <a:no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 kern="0" noProof="1" smtClean="0">
                    <a:solidFill>
                      <a:prstClr val="white"/>
                    </a:solidFill>
                    <a:latin typeface="Calibri"/>
                    <a:cs typeface="Arial" panose="020B0604020202020204" pitchFamily="34" charset="0"/>
                  </a:rPr>
                  <a:t>    Domain Expertise</a:t>
                </a:r>
              </a:p>
            </p:txBody>
          </p:sp>
          <p:sp>
            <p:nvSpPr>
              <p:cNvPr id="24" name="Textfeld 34">
                <a:extLst>
                  <a:ext uri="{FF2B5EF4-FFF2-40B4-BE49-F238E27FC236}">
                    <a16:creationId xmlns:a16="http://schemas.microsoft.com/office/drawing/2014/main" id="{F184543C-9D8F-EB4E-B442-4B84ECA7BB12}"/>
                  </a:ext>
                </a:extLst>
              </p:cNvPr>
              <p:cNvSpPr txBox="1"/>
              <p:nvPr/>
            </p:nvSpPr>
            <p:spPr bwMode="gray">
              <a:xfrm rot="4250875">
                <a:off x="3517456" y="2345413"/>
                <a:ext cx="2871090" cy="2871091"/>
              </a:xfrm>
              <a:prstGeom prst="rect">
                <a:avLst/>
              </a:prstGeom>
            </p:spPr>
            <p:txBody>
              <a:bodyPr spcFirstLastPara="1" vert="horz" wrap="none" lIns="0" tIns="0" rIns="0" bIns="0" numCol="1" rtlCol="0">
                <a:prstTxWarp prst="textArchDown">
                  <a:avLst/>
                </a:prstTxWarp>
                <a:no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 kern="0" noProof="1" smtClean="0">
                    <a:solidFill>
                      <a:prstClr val="white"/>
                    </a:solidFill>
                    <a:latin typeface="Calibri"/>
                    <a:cs typeface="Arial" panose="020B0604020202020204" pitchFamily="34" charset="0"/>
                  </a:rPr>
                  <a:t>Test Accelrators</a:t>
                </a:r>
                <a:endParaRPr lang="en-US" sz="1400" kern="0" noProof="1">
                  <a:solidFill>
                    <a:prstClr val="white"/>
                  </a:solidFill>
                  <a:latin typeface="Calibri"/>
                  <a:cs typeface="Arial" panose="020B0604020202020204" pitchFamily="34" charset="0"/>
                </a:endParaRPr>
              </a:p>
            </p:txBody>
          </p:sp>
          <p:sp>
            <p:nvSpPr>
              <p:cNvPr id="25" name="Textfeld 35">
                <a:extLst>
                  <a:ext uri="{FF2B5EF4-FFF2-40B4-BE49-F238E27FC236}">
                    <a16:creationId xmlns:a16="http://schemas.microsoft.com/office/drawing/2014/main" id="{031DCFFD-66C0-6347-A9EB-0EC10EC06E20}"/>
                  </a:ext>
                </a:extLst>
              </p:cNvPr>
              <p:cNvSpPr txBox="1"/>
              <p:nvPr/>
            </p:nvSpPr>
            <p:spPr bwMode="gray">
              <a:xfrm>
                <a:off x="3963000" y="2790958"/>
                <a:ext cx="1980001" cy="1980000"/>
              </a:xfrm>
              <a:prstGeom prst="rect">
                <a:avLst/>
              </a:prstGeom>
            </p:spPr>
            <p:txBody>
              <a:bodyPr spcFirstLastPara="1" vert="horz" wrap="none" lIns="0" tIns="0" rIns="0" bIns="0" numCol="1" rtlCol="0">
                <a:prstTxWarp prst="textArchDown">
                  <a:avLst>
                    <a:gd name="adj" fmla="val 16301368"/>
                  </a:avLst>
                </a:prstTxWarp>
                <a:no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400" kern="0" noProof="1" smtClean="0">
                    <a:solidFill>
                      <a:prstClr val="white"/>
                    </a:solidFill>
                    <a:latin typeface="Calibri"/>
                    <a:cs typeface="Arial" panose="020B0604020202020204" pitchFamily="34" charset="0"/>
                  </a:rPr>
                  <a:t>Shift Left Strategy</a:t>
                </a:r>
                <a:endParaRPr lang="en-US" sz="1400" kern="0" noProof="1">
                  <a:solidFill>
                    <a:prstClr val="white"/>
                  </a:solidFill>
                  <a:latin typeface="Calibri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86769" y="4225952"/>
              <a:ext cx="941000" cy="252109"/>
            </a:xfrm>
            <a:prstGeom prst="rect">
              <a:avLst/>
            </a:prstGeom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E77475CA-62DD-6C47-8D58-98B44FA587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45" y="2295115"/>
            <a:ext cx="274217" cy="274217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4" y="1851522"/>
            <a:ext cx="304800" cy="2286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AAA8A62-79DC-8444-AE49-AB578F5B2971}"/>
              </a:ext>
            </a:extLst>
          </p:cNvPr>
          <p:cNvSpPr txBox="1"/>
          <p:nvPr/>
        </p:nvSpPr>
        <p:spPr>
          <a:xfrm>
            <a:off x="316720" y="1620340"/>
            <a:ext cx="9253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User Stories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AA8A62-79DC-8444-AE49-AB578F5B2971}"/>
              </a:ext>
            </a:extLst>
          </p:cNvPr>
          <p:cNvSpPr txBox="1"/>
          <p:nvPr/>
        </p:nvSpPr>
        <p:spPr>
          <a:xfrm>
            <a:off x="296689" y="2074980"/>
            <a:ext cx="8130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BRD / FRD</a:t>
            </a:r>
            <a:endParaRPr lang="en-US" sz="12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726" y="1997153"/>
            <a:ext cx="1024300" cy="268821"/>
          </a:xfrm>
          <a:prstGeom prst="rect">
            <a:avLst/>
          </a:prstGeom>
        </p:spPr>
      </p:pic>
      <p:cxnSp>
        <p:nvCxnSpPr>
          <p:cNvPr id="35" name="Straight Arrow Connector 34"/>
          <p:cNvCxnSpPr/>
          <p:nvPr/>
        </p:nvCxnSpPr>
        <p:spPr>
          <a:xfrm>
            <a:off x="1072809" y="2162679"/>
            <a:ext cx="2946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500976" y="1841281"/>
            <a:ext cx="1101067" cy="45383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2497" y="1903132"/>
            <a:ext cx="218764" cy="353111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9778" y="1903132"/>
            <a:ext cx="218764" cy="35311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189106" y="1903132"/>
            <a:ext cx="185091" cy="19044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273842" y="2316234"/>
            <a:ext cx="1555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Manual Test Cases  </a:t>
            </a:r>
            <a:r>
              <a:rPr lang="en-US" sz="1000" dirty="0"/>
              <a:t>+ </a:t>
            </a:r>
            <a:r>
              <a:rPr lang="en-US" sz="1000" dirty="0" smtClean="0"/>
              <a:t>Automation Scripts</a:t>
            </a:r>
            <a:endParaRPr lang="en-US" sz="1000" dirty="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7938" y="1445365"/>
            <a:ext cx="761389" cy="2517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875422" y="1648869"/>
            <a:ext cx="1291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Orthogonal Testing </a:t>
            </a:r>
          </a:p>
          <a:p>
            <a:pPr algn="ctr"/>
            <a:r>
              <a:rPr lang="en-US" sz="1000" b="1" dirty="0" smtClean="0"/>
              <a:t>Assistant</a:t>
            </a:r>
            <a:endParaRPr lang="en-US" sz="1000" b="1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8433" y="2514874"/>
            <a:ext cx="286406" cy="336216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2540" y="2600952"/>
            <a:ext cx="276749" cy="28693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697392" y="2874018"/>
            <a:ext cx="1291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Risk Based Testing </a:t>
            </a:r>
          </a:p>
          <a:p>
            <a:pPr algn="ctr"/>
            <a:r>
              <a:rPr lang="en-US" sz="1000" b="1" dirty="0" smtClean="0"/>
              <a:t>Assistant</a:t>
            </a:r>
            <a:endParaRPr lang="en-US" sz="1000" b="1" dirty="0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7358" y="1351701"/>
            <a:ext cx="286406" cy="336216"/>
          </a:xfrm>
          <a:prstGeom prst="rect">
            <a:avLst/>
          </a:prstGeom>
        </p:spPr>
      </p:pic>
      <p:cxnSp>
        <p:nvCxnSpPr>
          <p:cNvPr id="49" name="Elbow Connector 48"/>
          <p:cNvCxnSpPr>
            <a:endCxn id="41" idx="1"/>
          </p:cNvCxnSpPr>
          <p:nvPr/>
        </p:nvCxnSpPr>
        <p:spPr>
          <a:xfrm rot="5400000" flipH="1" flipV="1">
            <a:off x="3549274" y="1794815"/>
            <a:ext cx="642239" cy="195090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endCxn id="44" idx="1"/>
          </p:cNvCxnSpPr>
          <p:nvPr/>
        </p:nvCxnSpPr>
        <p:spPr>
          <a:xfrm rot="16200000" flipH="1">
            <a:off x="3678056" y="2299935"/>
            <a:ext cx="538833" cy="350135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393C1E83-6283-AB4D-9CCA-039467A41EE8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1056" y="2082303"/>
            <a:ext cx="346101" cy="346101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AAA8A62-79DC-8444-AE49-AB578F5B2971}"/>
              </a:ext>
            </a:extLst>
          </p:cNvPr>
          <p:cNvSpPr txBox="1"/>
          <p:nvPr/>
        </p:nvSpPr>
        <p:spPr>
          <a:xfrm>
            <a:off x="4990786" y="2445181"/>
            <a:ext cx="7717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Test Suite</a:t>
            </a:r>
            <a:endParaRPr lang="en-US" sz="1200" dirty="0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28558" y="2007837"/>
            <a:ext cx="185091" cy="190440"/>
          </a:xfrm>
          <a:prstGeom prst="rect">
            <a:avLst/>
          </a:prstGeom>
        </p:spPr>
      </p:pic>
      <p:grpSp>
        <p:nvGrpSpPr>
          <p:cNvPr id="68" name="Group 67"/>
          <p:cNvGrpSpPr/>
          <p:nvPr/>
        </p:nvGrpSpPr>
        <p:grpSpPr>
          <a:xfrm>
            <a:off x="6017649" y="1688155"/>
            <a:ext cx="2459774" cy="1844481"/>
            <a:chOff x="6017649" y="1688155"/>
            <a:chExt cx="2459774" cy="1844481"/>
          </a:xfrm>
        </p:grpSpPr>
        <p:grpSp>
          <p:nvGrpSpPr>
            <p:cNvPr id="64" name="Group 63"/>
            <p:cNvGrpSpPr/>
            <p:nvPr/>
          </p:nvGrpSpPr>
          <p:grpSpPr>
            <a:xfrm>
              <a:off x="6017649" y="1688155"/>
              <a:ext cx="2459774" cy="1844481"/>
              <a:chOff x="7528162" y="1678198"/>
              <a:chExt cx="2459774" cy="1844481"/>
            </a:xfrm>
          </p:grpSpPr>
          <p:pic>
            <p:nvPicPr>
              <p:cNvPr id="58" name="Picture 57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47781" y="1973281"/>
                <a:ext cx="995823" cy="495793"/>
              </a:xfrm>
              <a:prstGeom prst="rect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</p:pic>
          <p:sp>
            <p:nvSpPr>
              <p:cNvPr id="59" name="TextBox 58"/>
              <p:cNvSpPr txBox="1"/>
              <p:nvPr/>
            </p:nvSpPr>
            <p:spPr>
              <a:xfrm>
                <a:off x="7528162" y="1678198"/>
                <a:ext cx="233156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 smtClean="0"/>
                  <a:t>Platform Agnostic Automation Framework </a:t>
                </a:r>
                <a:endParaRPr lang="en-US" sz="1000" b="1" dirty="0"/>
              </a:p>
            </p:txBody>
          </p:sp>
          <p:pic>
            <p:nvPicPr>
              <p:cNvPr id="60" name="Picture 59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902023" y="1964155"/>
                <a:ext cx="896761" cy="5207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cxnSp>
            <p:nvCxnSpPr>
              <p:cNvPr id="61" name="Straight Arrow Connector 60"/>
              <p:cNvCxnSpPr>
                <a:endCxn id="60" idx="1"/>
              </p:cNvCxnSpPr>
              <p:nvPr/>
            </p:nvCxnSpPr>
            <p:spPr>
              <a:xfrm>
                <a:off x="8641257" y="2221177"/>
                <a:ext cx="260766" cy="3328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62" name="Picture 61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12911" y="2792004"/>
                <a:ext cx="436594" cy="479774"/>
              </a:xfrm>
              <a:prstGeom prst="rect">
                <a:avLst/>
              </a:prstGeom>
            </p:spPr>
          </p:pic>
          <p:sp>
            <p:nvSpPr>
              <p:cNvPr id="63" name="TextBox 62"/>
              <p:cNvSpPr txBox="1"/>
              <p:nvPr/>
            </p:nvSpPr>
            <p:spPr>
              <a:xfrm>
                <a:off x="8844702" y="3274343"/>
                <a:ext cx="1143234" cy="248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 smtClean="0"/>
                  <a:t>Master Test Data </a:t>
                </a:r>
                <a:endParaRPr lang="en-US" sz="1000" b="1" dirty="0"/>
              </a:p>
            </p:txBody>
          </p:sp>
        </p:grpSp>
        <p:cxnSp>
          <p:nvCxnSpPr>
            <p:cNvPr id="67" name="Straight Arrow Connector 66"/>
            <p:cNvCxnSpPr/>
            <p:nvPr/>
          </p:nvCxnSpPr>
          <p:spPr>
            <a:xfrm>
              <a:off x="7780260" y="2523337"/>
              <a:ext cx="0" cy="20409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Rounded Rectangle 71"/>
          <p:cNvSpPr/>
          <p:nvPr/>
        </p:nvSpPr>
        <p:spPr>
          <a:xfrm>
            <a:off x="8730886" y="1903132"/>
            <a:ext cx="2302789" cy="9438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>
              <a:solidFill>
                <a:schemeClr val="tx1"/>
              </a:solidFill>
            </a:endParaRPr>
          </a:p>
        </p:txBody>
      </p:sp>
      <p:pic>
        <p:nvPicPr>
          <p:cNvPr id="73" name="Picture 7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89931" y="2044195"/>
            <a:ext cx="293339" cy="30172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526464" y="2363449"/>
            <a:ext cx="1022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Sanity URL Tester</a:t>
            </a:r>
            <a:endParaRPr lang="en-US" sz="1000" b="1" dirty="0"/>
          </a:p>
        </p:txBody>
      </p:sp>
      <p:sp>
        <p:nvSpPr>
          <p:cNvPr id="75" name="TextBox 74"/>
          <p:cNvSpPr txBox="1"/>
          <p:nvPr/>
        </p:nvSpPr>
        <p:spPr>
          <a:xfrm>
            <a:off x="8485759" y="1665412"/>
            <a:ext cx="23315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BOTs Assisted Test Execution Platform</a:t>
            </a:r>
            <a:endParaRPr lang="en-US" sz="1000" b="1" dirty="0"/>
          </a:p>
        </p:txBody>
      </p:sp>
      <p:pic>
        <p:nvPicPr>
          <p:cNvPr id="76" name="Picture 7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1860" y="1706167"/>
            <a:ext cx="286406" cy="336216"/>
          </a:xfrm>
          <a:prstGeom prst="rect">
            <a:avLst/>
          </a:prstGeom>
        </p:spPr>
      </p:pic>
      <p:pic>
        <p:nvPicPr>
          <p:cNvPr id="77" name="Picture 7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47036" y="2010890"/>
            <a:ext cx="303789" cy="293092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124085" y="2357463"/>
            <a:ext cx="1291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Testing Tools &amp; Accelerators </a:t>
            </a:r>
            <a:endParaRPr lang="en-US" sz="1000" b="1" dirty="0"/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64868" y="1997153"/>
            <a:ext cx="369999" cy="384321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0114023" y="2384668"/>
            <a:ext cx="9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Test Execution Assistant</a:t>
            </a:r>
            <a:endParaRPr lang="en-US" sz="1000" b="1" dirty="0"/>
          </a:p>
        </p:txBody>
      </p:sp>
      <p:cxnSp>
        <p:nvCxnSpPr>
          <p:cNvPr id="81" name="Straight Arrow Connector 80"/>
          <p:cNvCxnSpPr/>
          <p:nvPr/>
        </p:nvCxnSpPr>
        <p:spPr>
          <a:xfrm>
            <a:off x="8367373" y="2286094"/>
            <a:ext cx="2946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2" name="Picture 8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70136" y="4429527"/>
            <a:ext cx="363539" cy="406626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0271469" y="4823374"/>
            <a:ext cx="1220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Defect Reporting</a:t>
            </a:r>
          </a:p>
          <a:p>
            <a:pPr algn="ctr"/>
            <a:r>
              <a:rPr lang="en-US" sz="1000" b="1" dirty="0" smtClean="0"/>
              <a:t>Assistant</a:t>
            </a:r>
            <a:endParaRPr lang="en-US" sz="1000" b="1" dirty="0"/>
          </a:p>
        </p:txBody>
      </p:sp>
      <p:pic>
        <p:nvPicPr>
          <p:cNvPr id="84" name="Picture 8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55612" y="5245521"/>
            <a:ext cx="470233" cy="481105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10248862" y="5699815"/>
            <a:ext cx="1220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Defect Retest</a:t>
            </a:r>
          </a:p>
          <a:p>
            <a:pPr algn="ctr"/>
            <a:r>
              <a:rPr lang="en-US" sz="1000" b="1" dirty="0" smtClean="0"/>
              <a:t>Assistant</a:t>
            </a:r>
            <a:endParaRPr lang="en-US" sz="1000" b="1" dirty="0"/>
          </a:p>
        </p:txBody>
      </p:sp>
      <p:cxnSp>
        <p:nvCxnSpPr>
          <p:cNvPr id="87" name="Straight Arrow Connector 86"/>
          <p:cNvCxnSpPr/>
          <p:nvPr/>
        </p:nvCxnSpPr>
        <p:spPr>
          <a:xfrm flipH="1">
            <a:off x="10101670" y="5335768"/>
            <a:ext cx="26319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842819" y="4387060"/>
            <a:ext cx="1220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Defect Predictive Analytics</a:t>
            </a:r>
            <a:endParaRPr lang="en-US" sz="1000" b="1" dirty="0"/>
          </a:p>
        </p:txBody>
      </p:sp>
      <p:grpSp>
        <p:nvGrpSpPr>
          <p:cNvPr id="93" name="Group 92"/>
          <p:cNvGrpSpPr/>
          <p:nvPr/>
        </p:nvGrpSpPr>
        <p:grpSpPr>
          <a:xfrm>
            <a:off x="8977898" y="4905928"/>
            <a:ext cx="933450" cy="909638"/>
            <a:chOff x="8991049" y="4967208"/>
            <a:chExt cx="933450" cy="909638"/>
          </a:xfrm>
        </p:grpSpPr>
        <p:pic>
          <p:nvPicPr>
            <p:cNvPr id="90" name="Picture 89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9400624" y="4971971"/>
              <a:ext cx="523875" cy="904875"/>
            </a:xfrm>
            <a:prstGeom prst="rect">
              <a:avLst/>
            </a:prstGeom>
          </p:spPr>
        </p:pic>
        <p:pic>
          <p:nvPicPr>
            <p:cNvPr id="91" name="Picture 90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8991049" y="4967208"/>
              <a:ext cx="409575" cy="457200"/>
            </a:xfrm>
            <a:prstGeom prst="rect">
              <a:avLst/>
            </a:prstGeom>
          </p:spPr>
        </p:pic>
      </p:grpSp>
      <p:pic>
        <p:nvPicPr>
          <p:cNvPr id="92" name="Picture 91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19726" y="4869587"/>
            <a:ext cx="790444" cy="61860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7662277" y="4367082"/>
            <a:ext cx="1220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Test Metrics &amp; Dashboard </a:t>
            </a:r>
            <a:endParaRPr lang="en-US" sz="1000" b="1" dirty="0"/>
          </a:p>
        </p:txBody>
      </p:sp>
      <p:pic>
        <p:nvPicPr>
          <p:cNvPr id="96" name="Picture 9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938384" y="5588596"/>
            <a:ext cx="369026" cy="246017"/>
          </a:xfrm>
          <a:prstGeom prst="rect">
            <a:avLst/>
          </a:prstGeom>
        </p:spPr>
      </p:pic>
      <p:pic>
        <p:nvPicPr>
          <p:cNvPr id="97" name="Picture 9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76245" y="5590590"/>
            <a:ext cx="369026" cy="246017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7567429" y="5846272"/>
            <a:ext cx="16576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Test Report Email Assistant</a:t>
            </a:r>
            <a:endParaRPr lang="en-US" sz="1000" b="1" dirty="0"/>
          </a:p>
        </p:txBody>
      </p:sp>
      <p:pic>
        <p:nvPicPr>
          <p:cNvPr id="99" name="Picture 9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3789" y="5522488"/>
            <a:ext cx="286406" cy="336216"/>
          </a:xfrm>
          <a:prstGeom prst="rect">
            <a:avLst/>
          </a:prstGeom>
        </p:spPr>
      </p:pic>
      <p:pic>
        <p:nvPicPr>
          <p:cNvPr id="105" name="Picture 104"/>
          <p:cNvPicPr>
            <a:picLocks noChangeAspect="1"/>
          </p:cNvPicPr>
          <p:nvPr/>
        </p:nvPicPr>
        <p:blipFill>
          <a:blip r:embed="rId2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45493" y="4608794"/>
            <a:ext cx="473044" cy="539826"/>
          </a:xfrm>
          <a:prstGeom prst="rect">
            <a:avLst/>
          </a:prstGeom>
        </p:spPr>
      </p:pic>
      <p:pic>
        <p:nvPicPr>
          <p:cNvPr id="106" name="Picture 105"/>
          <p:cNvPicPr>
            <a:picLocks noChangeAspect="1"/>
          </p:cNvPicPr>
          <p:nvPr/>
        </p:nvPicPr>
        <p:blipFill>
          <a:blip r:embed="rId2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61254" y="5468897"/>
            <a:ext cx="473044" cy="539826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19612" y="5261275"/>
            <a:ext cx="1361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Modified </a:t>
            </a:r>
            <a:r>
              <a:rPr lang="en-US" sz="1000" b="1" dirty="0" err="1" smtClean="0"/>
              <a:t>Reqs</a:t>
            </a:r>
            <a:r>
              <a:rPr lang="en-US" sz="1000" b="1" dirty="0" smtClean="0"/>
              <a:t> </a:t>
            </a:r>
            <a:endParaRPr lang="en-US" sz="1000" b="1" dirty="0"/>
          </a:p>
        </p:txBody>
      </p:sp>
      <p:sp>
        <p:nvSpPr>
          <p:cNvPr id="108" name="TextBox 107"/>
          <p:cNvSpPr txBox="1"/>
          <p:nvPr/>
        </p:nvSpPr>
        <p:spPr>
          <a:xfrm>
            <a:off x="170529" y="4397997"/>
            <a:ext cx="1143234" cy="248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New </a:t>
            </a:r>
            <a:r>
              <a:rPr lang="en-US" sz="1000" b="1" dirty="0" err="1" smtClean="0"/>
              <a:t>Reqs</a:t>
            </a:r>
            <a:endParaRPr lang="en-US" sz="1000" b="1" dirty="0"/>
          </a:p>
        </p:txBody>
      </p:sp>
      <p:cxnSp>
        <p:nvCxnSpPr>
          <p:cNvPr id="110" name="Straight Arrow Connector 109"/>
          <p:cNvCxnSpPr/>
          <p:nvPr/>
        </p:nvCxnSpPr>
        <p:spPr>
          <a:xfrm>
            <a:off x="992787" y="5170177"/>
            <a:ext cx="2946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9" name="Group 118"/>
          <p:cNvGrpSpPr/>
          <p:nvPr/>
        </p:nvGrpSpPr>
        <p:grpSpPr>
          <a:xfrm>
            <a:off x="3024923" y="5044805"/>
            <a:ext cx="1101067" cy="453834"/>
            <a:chOff x="2844870" y="4507797"/>
            <a:chExt cx="1101067" cy="453834"/>
          </a:xfrm>
        </p:grpSpPr>
        <p:sp>
          <p:nvSpPr>
            <p:cNvPr id="111" name="Rounded Rectangle 110"/>
            <p:cNvSpPr/>
            <p:nvPr/>
          </p:nvSpPr>
          <p:spPr>
            <a:xfrm>
              <a:off x="2844870" y="4507797"/>
              <a:ext cx="1101067" cy="453834"/>
            </a:xfrm>
            <a:prstGeom prst="roundRect">
              <a:avLst/>
            </a:prstGeom>
            <a:solidFill>
              <a:srgbClr val="FFA7A7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err="1" smtClean="0">
                <a:solidFill>
                  <a:schemeClr val="tx1"/>
                </a:solidFill>
              </a:endParaRPr>
            </a:p>
          </p:txBody>
        </p:sp>
        <p:pic>
          <p:nvPicPr>
            <p:cNvPr id="112" name="Picture 1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86391" y="4569648"/>
              <a:ext cx="218764" cy="353111"/>
            </a:xfrm>
            <a:prstGeom prst="rect">
              <a:avLst/>
            </a:prstGeom>
          </p:spPr>
        </p:pic>
        <p:pic>
          <p:nvPicPr>
            <p:cNvPr id="113" name="Picture 1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08260" y="4558133"/>
              <a:ext cx="218764" cy="353110"/>
            </a:xfrm>
            <a:prstGeom prst="rect">
              <a:avLst/>
            </a:prstGeom>
          </p:spPr>
        </p:pic>
        <p:pic>
          <p:nvPicPr>
            <p:cNvPr id="114" name="Picture 113"/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533000" y="4569648"/>
              <a:ext cx="185091" cy="190440"/>
            </a:xfrm>
            <a:prstGeom prst="rect">
              <a:avLst/>
            </a:prstGeom>
          </p:spPr>
        </p:pic>
      </p:grpSp>
      <p:sp>
        <p:nvSpPr>
          <p:cNvPr id="115" name="TextBox 114"/>
          <p:cNvSpPr txBox="1"/>
          <p:nvPr/>
        </p:nvSpPr>
        <p:spPr>
          <a:xfrm>
            <a:off x="2845355" y="4833590"/>
            <a:ext cx="15553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100% Updated Test Pack</a:t>
            </a:r>
            <a:endParaRPr lang="en-US" sz="1000" dirty="0"/>
          </a:p>
        </p:txBody>
      </p:sp>
      <p:grpSp>
        <p:nvGrpSpPr>
          <p:cNvPr id="128" name="Group 127"/>
          <p:cNvGrpSpPr/>
          <p:nvPr/>
        </p:nvGrpSpPr>
        <p:grpSpPr>
          <a:xfrm>
            <a:off x="1214872" y="4787170"/>
            <a:ext cx="1342419" cy="1103149"/>
            <a:chOff x="1214872" y="4787170"/>
            <a:chExt cx="1342419" cy="1103149"/>
          </a:xfrm>
        </p:grpSpPr>
        <p:pic>
          <p:nvPicPr>
            <p:cNvPr id="109" name="Picture 10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66764" y="4787170"/>
              <a:ext cx="1024300" cy="268821"/>
            </a:xfrm>
            <a:prstGeom prst="rect">
              <a:avLst/>
            </a:prstGeom>
          </p:spPr>
        </p:pic>
        <p:pic>
          <p:nvPicPr>
            <p:cNvPr id="126" name="Picture 125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748320" y="5124779"/>
              <a:ext cx="333375" cy="295275"/>
            </a:xfrm>
            <a:prstGeom prst="rect">
              <a:avLst/>
            </a:prstGeom>
          </p:spPr>
        </p:pic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EAAA8A62-79DC-8444-AE49-AB578F5B2971}"/>
                </a:ext>
              </a:extLst>
            </p:cNvPr>
            <p:cNvSpPr txBox="1"/>
            <p:nvPr/>
          </p:nvSpPr>
          <p:spPr>
            <a:xfrm>
              <a:off x="1214872" y="5428654"/>
              <a:ext cx="13424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Automated Impact</a:t>
              </a:r>
            </a:p>
            <a:p>
              <a:pPr algn="ctr"/>
              <a:r>
                <a:rPr lang="en-US" sz="1200" dirty="0" smtClean="0"/>
                <a:t> Analysis</a:t>
              </a:r>
              <a:endParaRPr lang="en-US" sz="1200" dirty="0"/>
            </a:p>
          </p:txBody>
        </p:sp>
      </p:grpSp>
      <p:cxnSp>
        <p:nvCxnSpPr>
          <p:cNvPr id="129" name="Straight Arrow Connector 128"/>
          <p:cNvCxnSpPr/>
          <p:nvPr/>
        </p:nvCxnSpPr>
        <p:spPr>
          <a:xfrm>
            <a:off x="2595157" y="5245521"/>
            <a:ext cx="2946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961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" y="255199"/>
            <a:ext cx="10427617" cy="492443"/>
          </a:xfrm>
        </p:spPr>
        <p:txBody>
          <a:bodyPr/>
          <a:lstStyle/>
          <a:p>
            <a:r>
              <a:rPr lang="en-US" dirty="0" smtClean="0"/>
              <a:t>Test Driven Development – Model Based Testing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©2018 ITC Infotech. All Rights Reserved.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304720" y="3289300"/>
            <a:ext cx="4254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347201" y="1136137"/>
            <a:ext cx="264160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Key Benefits</a:t>
            </a:r>
          </a:p>
          <a:p>
            <a:endParaRPr lang="en-US" sz="1400" b="1" dirty="0"/>
          </a:p>
          <a:p>
            <a:pPr marL="342900" indent="-342900">
              <a:buAutoNum type="arabicPeriod"/>
            </a:pPr>
            <a:r>
              <a:rPr lang="en-US" sz="1400" dirty="0" smtClean="0"/>
              <a:t>Automated Generation of Test Cases and Test Scripts</a:t>
            </a:r>
          </a:p>
          <a:p>
            <a:pPr marL="342900" indent="-342900">
              <a:buAutoNum type="arabicPeriod"/>
            </a:pPr>
            <a:endParaRPr lang="en-US" sz="1400" dirty="0" smtClean="0"/>
          </a:p>
          <a:p>
            <a:pPr marL="342900" indent="-342900">
              <a:buAutoNum type="arabicPeriod"/>
            </a:pPr>
            <a:r>
              <a:rPr lang="en-US" sz="1400" dirty="0" smtClean="0"/>
              <a:t>Test Cases can be imported to generate Test Scripts</a:t>
            </a:r>
          </a:p>
          <a:p>
            <a:pPr marL="342900" indent="-342900">
              <a:buAutoNum type="arabicPeriod"/>
            </a:pPr>
            <a:endParaRPr lang="en-US" sz="1400" dirty="0" smtClean="0"/>
          </a:p>
          <a:p>
            <a:pPr marL="342900" indent="-342900">
              <a:buAutoNum type="arabicPeriod"/>
            </a:pPr>
            <a:r>
              <a:rPr lang="en-US" sz="1400" dirty="0" smtClean="0"/>
              <a:t>100% Requirement Traceability</a:t>
            </a:r>
          </a:p>
          <a:p>
            <a:pPr marL="342900" indent="-342900">
              <a:buAutoNum type="arabicPeriod"/>
            </a:pPr>
            <a:endParaRPr lang="en-US" sz="1400" dirty="0" smtClean="0"/>
          </a:p>
          <a:p>
            <a:pPr marL="342900" indent="-342900">
              <a:buAutoNum type="arabicPeriod"/>
            </a:pPr>
            <a:r>
              <a:rPr lang="en-US" sz="1400" dirty="0" smtClean="0"/>
              <a:t>45% Effort Saved in Regression Analysis</a:t>
            </a:r>
          </a:p>
          <a:p>
            <a:pPr marL="342900" indent="-342900">
              <a:buAutoNum type="arabicPeriod"/>
            </a:pPr>
            <a:endParaRPr lang="en-US" sz="1400" dirty="0" smtClean="0"/>
          </a:p>
          <a:p>
            <a:pPr marL="342900" indent="-342900">
              <a:buAutoNum type="arabicPeriod"/>
            </a:pPr>
            <a:r>
              <a:rPr lang="en-US" sz="1400" dirty="0" smtClean="0"/>
              <a:t>100% Adoption of Shift Left Strategy </a:t>
            </a:r>
          </a:p>
          <a:p>
            <a:pPr marL="342900" indent="-342900">
              <a:buAutoNum type="arabicPeriod"/>
            </a:pPr>
            <a:endParaRPr lang="en-US" sz="1400" dirty="0" smtClean="0"/>
          </a:p>
          <a:p>
            <a:pPr marL="342900" indent="-342900">
              <a:buAutoNum type="arabicPeriod"/>
            </a:pPr>
            <a:r>
              <a:rPr lang="en-US" sz="1400" dirty="0" smtClean="0"/>
              <a:t>55% Cost &amp; Effort Saved in First Time Test Case/ Script Design</a:t>
            </a:r>
          </a:p>
          <a:p>
            <a:pPr marL="342900" indent="-342900">
              <a:buAutoNum type="arabicPeriod"/>
            </a:pPr>
            <a:endParaRPr lang="en-US" sz="1400" dirty="0" smtClean="0"/>
          </a:p>
          <a:p>
            <a:pPr marL="342900" indent="-342900">
              <a:buAutoNum type="arabicPeriod"/>
            </a:pPr>
            <a:r>
              <a:rPr lang="en-US" sz="1400" dirty="0" smtClean="0"/>
              <a:t>100% accurate Regression Analysis</a:t>
            </a:r>
          </a:p>
          <a:p>
            <a:pPr marL="342900" indent="-342900">
              <a:buAutoNum type="arabicPeriod"/>
            </a:pPr>
            <a:endParaRPr lang="en-US" sz="1400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22" y="2124904"/>
            <a:ext cx="8572580" cy="3629952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195522" y="1259470"/>
            <a:ext cx="8529378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252000" indent="-252000" algn="l" defTabSz="914400" rtl="0" eaLnBrk="1" latinLnBrk="0" hangingPunct="1">
              <a:spcBef>
                <a:spcPts val="600"/>
              </a:spcBef>
              <a:buFont typeface="Wingdings 2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04000" indent="-252000" algn="l" defTabSz="914400" rtl="0" eaLnBrk="1" latinLnBrk="0" hangingPunct="1">
              <a:spcBef>
                <a:spcPts val="6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756000" indent="-252000" algn="l" defTabSz="914400" rtl="0" eaLnBrk="1" latinLnBrk="0" hangingPunct="1">
              <a:spcBef>
                <a:spcPts val="600"/>
              </a:spcBef>
              <a:buFont typeface="Wingdings 2" pitchFamily="18" charset="2"/>
              <a:buChar char="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008000" indent="-252000" algn="l" defTabSz="914400" rtl="0" eaLnBrk="1" latinLnBrk="0" hangingPunct="1">
              <a:spcBef>
                <a:spcPts val="600"/>
              </a:spcBef>
              <a:buFont typeface="Arial" pitchFamily="34" charset="0"/>
              <a:buChar char="˗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 web based application for automated Test Case &amp; Skeletal automation script generation from flow diagrams that depict requirements.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647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Sanity URL -  BOT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863" y="1151284"/>
            <a:ext cx="11579384" cy="3046988"/>
          </a:xfrm>
        </p:spPr>
        <p:txBody>
          <a:bodyPr/>
          <a:lstStyle/>
          <a:p>
            <a:r>
              <a:rPr lang="en-US" dirty="0" smtClean="0"/>
              <a:t>A web based application which takes an URL, which can be of a website or a webpage as </a:t>
            </a:r>
            <a:r>
              <a:rPr lang="en-US" dirty="0" smtClean="0"/>
              <a:t>an input and displays all the URLs contained in all the webpages of that website along with a report of results corresponding to the particular URL. There is also an added feature that can block the opening of URLs  which are not relevant to the input URL </a:t>
            </a:r>
            <a:r>
              <a:rPr lang="en-US" dirty="0" err="1" smtClean="0"/>
              <a:t>viz</a:t>
            </a:r>
            <a:r>
              <a:rPr lang="en-US" dirty="0" smtClean="0"/>
              <a:t> social media </a:t>
            </a:r>
            <a:r>
              <a:rPr lang="en-US" dirty="0" err="1" smtClean="0"/>
              <a:t>sites,third</a:t>
            </a:r>
            <a:r>
              <a:rPr lang="en-US" dirty="0" smtClean="0"/>
              <a:t> party </a:t>
            </a:r>
            <a:r>
              <a:rPr lang="en-US" dirty="0" err="1" smtClean="0"/>
              <a:t>urls</a:t>
            </a:r>
            <a:r>
              <a:rPr lang="en-US" dirty="0" smtClean="0"/>
              <a:t> .</a:t>
            </a:r>
          </a:p>
          <a:p>
            <a:r>
              <a:rPr lang="en-US" dirty="0"/>
              <a:t> </a:t>
            </a:r>
            <a:r>
              <a:rPr lang="en-US" dirty="0" smtClean="0"/>
              <a:t>Tools required to build the application are:</a:t>
            </a:r>
          </a:p>
          <a:p>
            <a:pPr marL="285750" lvl="1" indent="-285750" fontAlgn="ctr">
              <a:buFont typeface="Wingdings" panose="05000000000000000000" pitchFamily="2" charset="2"/>
              <a:buChar char="Ø"/>
              <a:defRPr/>
            </a:pPr>
            <a:r>
              <a:rPr lang="en-US" sz="1300" kern="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Java 1.8.x</a:t>
            </a:r>
          </a:p>
          <a:p>
            <a:pPr marL="285750" lvl="1" indent="-285750" fontAlgn="ctr">
              <a:buFont typeface="Wingdings" panose="05000000000000000000" pitchFamily="2" charset="2"/>
              <a:buChar char="Ø"/>
              <a:defRPr/>
            </a:pPr>
            <a:r>
              <a:rPr lang="en-US" sz="1300" kern="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Eclipse Oxygen</a:t>
            </a:r>
          </a:p>
          <a:p>
            <a:pPr marL="285750" lvl="1" indent="-285750" fontAlgn="ctr">
              <a:buFont typeface="Wingdings" panose="05000000000000000000" pitchFamily="2" charset="2"/>
              <a:buChar char="Ø"/>
              <a:defRPr/>
            </a:pPr>
            <a:r>
              <a:rPr lang="en-US" sz="1300" kern="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Apache POI</a:t>
            </a:r>
          </a:p>
          <a:p>
            <a:pPr marL="285750" lvl="1" indent="-285750" fontAlgn="ctr">
              <a:buFont typeface="Wingdings" panose="05000000000000000000" pitchFamily="2" charset="2"/>
              <a:buChar char="Ø"/>
              <a:defRPr/>
            </a:pPr>
            <a:r>
              <a:rPr lang="en-US" sz="1300" kern="0" dirty="0" err="1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Appium</a:t>
            </a:r>
            <a:endParaRPr lang="en-US" sz="1300" kern="0" dirty="0">
              <a:solidFill>
                <a:srgbClr val="000000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 fontAlgn="ctr">
              <a:buFont typeface="Wingdings" panose="05000000000000000000" pitchFamily="2" charset="2"/>
              <a:buChar char="Ø"/>
              <a:defRPr/>
            </a:pPr>
            <a:r>
              <a:rPr lang="en-US" sz="1300" kern="0" dirty="0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Node/Hub</a:t>
            </a:r>
          </a:p>
          <a:p>
            <a:pPr marL="285750" lvl="1" indent="-285750" fontAlgn="ctr">
              <a:buFont typeface="Wingdings" panose="05000000000000000000" pitchFamily="2" charset="2"/>
              <a:buChar char="Ø"/>
              <a:defRPr/>
            </a:pPr>
            <a:r>
              <a:rPr lang="en-US" sz="1300" kern="0" dirty="0" err="1">
                <a:solidFill>
                  <a:srgbClr val="0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Testng</a:t>
            </a:r>
            <a:endParaRPr lang="en-US" sz="1300" kern="0" dirty="0">
              <a:solidFill>
                <a:srgbClr val="000000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©2018 ITC Infotech. All Rights Reserved.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4</a:t>
            </a:fld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" t="4675" r="2621" b="2908"/>
          <a:stretch/>
        </p:blipFill>
        <p:spPr>
          <a:xfrm>
            <a:off x="2696868" y="2325189"/>
            <a:ext cx="7387657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21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Based Testing Utility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©2018 ITC Infotech. All Rights Reserved.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270863" y="1151284"/>
            <a:ext cx="11579384" cy="81560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spreadsheet based accelerator that help testers to prioritize requirements and tests based on Risks, provides recommended test coverage &amp; generate Reports and graphs. </a:t>
            </a:r>
          </a:p>
          <a:p>
            <a:pPr marL="0" indent="0">
              <a:buNone/>
            </a:pPr>
            <a:r>
              <a:rPr lang="en-US" dirty="0"/>
              <a:t>A well-developed methodology ensures that high-risk areas are tested first, then medium-risk areas and, finally, low-risk areas. 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395" y="4597908"/>
            <a:ext cx="6144630" cy="14428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0345" y="2359732"/>
            <a:ext cx="3168352" cy="20941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713" y="2386634"/>
            <a:ext cx="2773545" cy="206725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20" y="2222500"/>
            <a:ext cx="5374796" cy="381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3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Orthogonal Array Testing - Utility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863" y="1151284"/>
            <a:ext cx="11579384" cy="738664"/>
          </a:xfrm>
        </p:spPr>
        <p:txBody>
          <a:bodyPr/>
          <a:lstStyle/>
          <a:p>
            <a:r>
              <a:rPr lang="en-US" dirty="0"/>
              <a:t>Orthogonal array testing is an effective test case generation technique that is based on the observation that most faults are caused by interactions of at most two factors.  It is a technique that tests the pair-wise combinations of all the selected variables in lesser number of test cases rather than testing all combinations of all variables.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©2018 ITC Infotech. All Rights Reserved.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6</a:t>
            </a:fld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62" y="2383257"/>
            <a:ext cx="8153400" cy="1257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365" y="2550447"/>
            <a:ext cx="2286000" cy="3771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62" y="4405594"/>
            <a:ext cx="2276475" cy="1362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50" y="3966405"/>
            <a:ext cx="30438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Optimal Test Combinations</a:t>
            </a:r>
            <a:endParaRPr lang="en-US" sz="16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9144987" y="2211893"/>
            <a:ext cx="30438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All Test Combinations</a:t>
            </a:r>
            <a:endParaRPr lang="en-US" sz="16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69262" y="2057409"/>
            <a:ext cx="30438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Input Parameters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361044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862" y="232373"/>
            <a:ext cx="10427617" cy="492443"/>
          </a:xfrm>
        </p:spPr>
        <p:txBody>
          <a:bodyPr/>
          <a:lstStyle/>
          <a:p>
            <a:r>
              <a:rPr lang="en-US" dirty="0"/>
              <a:t>Pre Cursory File Checker – ETL / Big Data Testing Accelerator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©2018 ITC Infotech. All Rights Reserved.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8199878" y="1677874"/>
            <a:ext cx="3849247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Key Challenges in ETL Testing w.r.t Flat File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Erroneous records in the input files are not unearthed until they are processed by the ETL jobs.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Time taken to update the input files to proceed with testing is time consuming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Getting a first hand feel on the quality of input files is key to expedite end to end testing effort</a:t>
            </a:r>
          </a:p>
          <a:p>
            <a:endParaRPr lang="en-US" sz="1400" dirty="0" smtClean="0"/>
          </a:p>
          <a:p>
            <a:r>
              <a:rPr lang="en-US" sz="1400" b="1" dirty="0"/>
              <a:t>Key </a:t>
            </a:r>
            <a:r>
              <a:rPr lang="en-US" sz="1400" b="1" dirty="0" smtClean="0"/>
              <a:t>Features </a:t>
            </a:r>
            <a:r>
              <a:rPr lang="en-US" sz="1400" b="1" dirty="0"/>
              <a:t>of Pre </a:t>
            </a:r>
            <a:r>
              <a:rPr lang="en-US" sz="1400" b="1" dirty="0" smtClean="0"/>
              <a:t>Cursory </a:t>
            </a:r>
            <a:r>
              <a:rPr lang="en-US" sz="1400" b="1" dirty="0"/>
              <a:t>File Checker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Enables input files to be validated against the </a:t>
            </a:r>
            <a:r>
              <a:rPr lang="en-US" sz="1400" dirty="0" err="1" smtClean="0"/>
              <a:t>config</a:t>
            </a:r>
            <a:r>
              <a:rPr lang="en-US" sz="1400" dirty="0" smtClean="0"/>
              <a:t> file / mapping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Every column and records are verified for compliance against  mapping document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Following deviations are highlighted in the report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 smtClean="0"/>
              <a:t>Primary key having documents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 smtClean="0"/>
              <a:t>Not </a:t>
            </a:r>
            <a:r>
              <a:rPr lang="en-US" sz="1400" dirty="0" err="1" smtClean="0"/>
              <a:t>nullable</a:t>
            </a:r>
            <a:r>
              <a:rPr lang="en-US" sz="1400" dirty="0" smtClean="0"/>
              <a:t> fields having null values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 smtClean="0"/>
              <a:t>Columns present in </a:t>
            </a:r>
            <a:r>
              <a:rPr lang="en-US" sz="1400" dirty="0" err="1" smtClean="0"/>
              <a:t>config</a:t>
            </a:r>
            <a:r>
              <a:rPr lang="en-US" sz="1400" dirty="0" smtClean="0"/>
              <a:t> file / mapping document and missing in input files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Detailed Reports provided in less than 5 minutes for 30K +  records</a:t>
            </a:r>
          </a:p>
          <a:p>
            <a:endParaRPr lang="en-US" sz="14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70863" y="1151284"/>
            <a:ext cx="11579384" cy="492443"/>
          </a:xfrm>
        </p:spPr>
        <p:txBody>
          <a:bodyPr/>
          <a:lstStyle/>
          <a:p>
            <a:r>
              <a:rPr lang="en-US" dirty="0" smtClean="0"/>
              <a:t>Pre Cursory File checker is a Data Testing utility built on Python leveraging </a:t>
            </a:r>
            <a:r>
              <a:rPr lang="en-US" dirty="0" err="1" smtClean="0"/>
              <a:t>Tkinter</a:t>
            </a:r>
            <a:r>
              <a:rPr lang="en-US" dirty="0" smtClean="0"/>
              <a:t> framework. It enables developers/ testers to evaluate the Sanity of the input files before being processed by ETL job / Big Data jobs.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20" y="2262349"/>
            <a:ext cx="7790578" cy="308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408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DB Table to Table Comparator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863" y="1151284"/>
            <a:ext cx="11579384" cy="2108269"/>
          </a:xfrm>
        </p:spPr>
        <p:txBody>
          <a:bodyPr/>
          <a:lstStyle/>
          <a:p>
            <a:r>
              <a:rPr lang="en-US" dirty="0" smtClean="0"/>
              <a:t>A generic automation utility tool to compare whether multiple databases records are identical before running the ETL job.  The tool can help to obtain the following checks.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Primary Key Identification/Validation.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Total Number of records present in both the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Attribute/Entity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Displaying the unmatched records.</a:t>
            </a:r>
          </a:p>
          <a:p>
            <a:r>
              <a:rPr lang="en-US" dirty="0"/>
              <a:t>	</a:t>
            </a:r>
            <a:r>
              <a:rPr lang="en-US" b="1" dirty="0" smtClean="0"/>
              <a:t>Table 1: </a:t>
            </a:r>
            <a:r>
              <a:rPr lang="en-US" dirty="0" smtClean="0"/>
              <a:t>						</a:t>
            </a:r>
            <a:r>
              <a:rPr lang="en-US" b="1" dirty="0" smtClean="0"/>
              <a:t>Table 2: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©2018 ITC Infotech. All Rights Reserved.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8</a:t>
            </a:fld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05" y="3271416"/>
            <a:ext cx="3781425" cy="110490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>
            <a:off x="6283234" y="4787537"/>
            <a:ext cx="862149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45383" y="4584677"/>
            <a:ext cx="156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Python exe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590903" y="5711428"/>
            <a:ext cx="1902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Report</a:t>
            </a:r>
            <a:endParaRPr lang="en-US" b="1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091" y="3290283"/>
            <a:ext cx="4876800" cy="9429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6874" y="4233258"/>
            <a:ext cx="1187361" cy="132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6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Flat File Generator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©2018 ITC Infotech. All Rights Reserved.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9</a:t>
            </a:fld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788702"/>
            <a:ext cx="7099300" cy="4625764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8003865" y="2209799"/>
            <a:ext cx="3695700" cy="4648201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Creates Reusable Templates for Inbound file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Stores Repository of Templates.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Provides an option to specify the mandatory fields and default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Generate Inbound Flat file from 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Master Data Sheet</a:t>
            </a:r>
          </a:p>
          <a:p>
            <a:pPr lvl="4">
              <a:buFont typeface="Courier New" pitchFamily="49" charset="0"/>
              <a:buChar char="o"/>
            </a:pPr>
            <a:r>
              <a:rPr lang="en-US" dirty="0" smtClean="0"/>
              <a:t>Random </a:t>
            </a:r>
            <a:r>
              <a:rPr lang="en-US" dirty="0"/>
              <a:t>records from Master Data Sheet</a:t>
            </a:r>
          </a:p>
          <a:p>
            <a:pPr lvl="4">
              <a:buFont typeface="Courier New" pitchFamily="49" charset="0"/>
              <a:buChar char="o"/>
            </a:pPr>
            <a:r>
              <a:rPr lang="en-US" dirty="0" smtClean="0"/>
              <a:t>Records </a:t>
            </a:r>
            <a:r>
              <a:rPr lang="en-US" dirty="0"/>
              <a:t>based on a specific combination of any 2  related fields from the Master Data Sheet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Manual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dirty="0"/>
              <a:t>Provides preview of the Flat File 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dirty="0"/>
              <a:t>Validation for manual record creation for the field values based on the field length defined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dirty="0"/>
              <a:t>Exports the record data in excel format to a specified location for further reference</a:t>
            </a:r>
          </a:p>
          <a:p>
            <a:pPr marL="285750" lvl="1" indent="-285750">
              <a:buFont typeface="Arial" pitchFamily="34" charset="0"/>
              <a:buChar char="•"/>
            </a:pPr>
            <a:r>
              <a:rPr lang="en-US" dirty="0"/>
              <a:t>Stores Repository of Flat Files Generated</a:t>
            </a:r>
          </a:p>
          <a:p>
            <a:endParaRPr lang="en-US" sz="1600" dirty="0" smtClean="0"/>
          </a:p>
          <a:p>
            <a:endParaRPr lang="en-US" sz="1600" dirty="0" smtClean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8216900" y="1778877"/>
            <a:ext cx="2755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Key Features</a:t>
            </a:r>
            <a:endParaRPr lang="en-US" sz="1600" b="1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70863" y="1062259"/>
            <a:ext cx="1157938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252000" indent="-252000" algn="l" defTabSz="914400" rtl="0" eaLnBrk="1" latinLnBrk="0" hangingPunct="1">
              <a:spcBef>
                <a:spcPts val="600"/>
              </a:spcBef>
              <a:buFont typeface="Wingdings 2" pitchFamily="18" charset="2"/>
              <a:buChar char="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04000" indent="-252000" algn="l" defTabSz="914400" rtl="0" eaLnBrk="1" latinLnBrk="0" hangingPunct="1">
              <a:spcBef>
                <a:spcPts val="6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756000" indent="-252000" algn="l" defTabSz="914400" rtl="0" eaLnBrk="1" latinLnBrk="0" hangingPunct="1">
              <a:spcBef>
                <a:spcPts val="600"/>
              </a:spcBef>
              <a:buFont typeface="Wingdings 2" pitchFamily="18" charset="2"/>
              <a:buChar char="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008000" indent="-252000" algn="l" defTabSz="914400" rtl="0" eaLnBrk="1" latinLnBrk="0" hangingPunct="1">
              <a:spcBef>
                <a:spcPts val="600"/>
              </a:spcBef>
              <a:buFont typeface="Arial" pitchFamily="34" charset="0"/>
              <a:buChar char="˗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 spreadsheet based accelerator that help testers to create flat files for ETL Testing in the event when they do not get production like files for testing.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0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Road Map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©2018 ITC Infotech. All Rights Reserved.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2EA8-35F1-4A35-9763-13466C1417DD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4467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947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015 ITC Infotech Template">
  <a:themeElements>
    <a:clrScheme name="ITC Infotech 2015">
      <a:dk1>
        <a:srgbClr val="000000"/>
      </a:dk1>
      <a:lt1>
        <a:srgbClr val="FFFFFF"/>
      </a:lt1>
      <a:dk2>
        <a:srgbClr val="7F7F7F"/>
      </a:dk2>
      <a:lt2>
        <a:srgbClr val="7F7F7F"/>
      </a:lt2>
      <a:accent1>
        <a:srgbClr val="C8DC28"/>
      </a:accent1>
      <a:accent2>
        <a:srgbClr val="642882"/>
      </a:accent2>
      <a:accent3>
        <a:srgbClr val="7F7F7F"/>
      </a:accent3>
      <a:accent4>
        <a:srgbClr val="E5E5E5"/>
      </a:accent4>
      <a:accent5>
        <a:srgbClr val="F2F2F2"/>
      </a:accent5>
      <a:accent6>
        <a:srgbClr val="7F7F7F"/>
      </a:accent6>
      <a:hlink>
        <a:srgbClr val="002060"/>
      </a:hlink>
      <a:folHlink>
        <a:srgbClr val="002060"/>
      </a:folHlink>
    </a:clrScheme>
    <a:fontScheme name="ITC Infotitan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15 ITC Infotech Template" id="{0F0EA5AB-7595-4F8E-904A-6F674BAA2F94}" vid="{3D20AD07-A66A-4E9A-B2D7-C7CAC47E71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205FA22FC01F4083C4CFA01048876D" ma:contentTypeVersion="0" ma:contentTypeDescription="Create a new document." ma:contentTypeScope="" ma:versionID="2c29a2bafb39c3602ee11ae94dd5cda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6A23BF-3ABE-4024-83A9-377878A05F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1BD3707-448F-4005-A53F-ED457C2D7D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6EFEF3-B795-49EC-ABA3-B2265BF44612}">
  <ds:schemaRefs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2015 ITC Infotech Template</Template>
  <TotalTime>51621</TotalTime>
  <Words>897</Words>
  <Application>Microsoft Office PowerPoint</Application>
  <PresentationFormat>Custom</PresentationFormat>
  <Paragraphs>149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Segoe UI</vt:lpstr>
      <vt:lpstr>Times New Roman</vt:lpstr>
      <vt:lpstr>Wingdings</vt:lpstr>
      <vt:lpstr>Wingdings 2</vt:lpstr>
      <vt:lpstr>2015 ITC Infotech Template</vt:lpstr>
      <vt:lpstr>ITC Infotech Testing Capabilities  </vt:lpstr>
      <vt:lpstr>TestNext Automata– An ecosystem for automated Test Life cycle</vt:lpstr>
      <vt:lpstr>Test Driven Development – Model Based Testing </vt:lpstr>
      <vt:lpstr>Sanity URL -  BOT</vt:lpstr>
      <vt:lpstr>Risk Based Testing Utility</vt:lpstr>
      <vt:lpstr>Orthogonal Array Testing - Utility</vt:lpstr>
      <vt:lpstr>Pre Cursory File Checker – ETL / Big Data Testing Accelerator</vt:lpstr>
      <vt:lpstr>DB Table to Table Comparator</vt:lpstr>
      <vt:lpstr>Flat File Generator</vt:lpstr>
      <vt:lpstr>Road Map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Dipa</dc:creator>
  <cp:lastModifiedBy>Kumar Vikash</cp:lastModifiedBy>
  <cp:revision>1108</cp:revision>
  <cp:lastPrinted>2017-08-11T08:50:46Z</cp:lastPrinted>
  <dcterms:created xsi:type="dcterms:W3CDTF">2012-03-05T08:30:28Z</dcterms:created>
  <dcterms:modified xsi:type="dcterms:W3CDTF">2019-01-21T11:56:40Z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0x010100A5205FA22FC01F4083C4CFA01048876D</vt:lpwstr>
  </property>
</Properties>
</file>